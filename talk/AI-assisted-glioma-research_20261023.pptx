
<file path=[Content_Types].xml><?xml version="1.0" encoding="utf-8"?>
<Types xmlns="http://schemas.openxmlformats.org/package/2006/content-types">
  <Default Extension="gif" ContentType="image/gif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8" r:id="rId1"/>
    <p:sldMasterId id="2147483689" r:id="rId2"/>
    <p:sldMasterId id="2147483690" r:id="rId3"/>
    <p:sldMasterId id="2147483691" r:id="rId4"/>
  </p:sldMasterIdLst>
  <p:notesMasterIdLst>
    <p:notesMasterId r:id="rId21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5"/>
  </p:normalViewPr>
  <p:slideViewPr>
    <p:cSldViewPr snapToGrid="0">
      <p:cViewPr varScale="1">
        <p:scale>
          <a:sx n="159" d="100"/>
          <a:sy n="159" d="100"/>
        </p:scale>
        <p:origin x="82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h78c09809294d877f_8_8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h78c09809294d877f_8_8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h78c09809294d877f_8_8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h78c09809294d877f_8_8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h78c09809294d877f_8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7" name="Google Shape;257;h78c09809294d877f_8_2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h78c09809294d877f_15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1" name="Google Shape;271;h78c09809294d877f_15_3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Published imaging AI methods · 1:12 · cumulative 2:36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Our recent feasibility paper provides the imaging foundation. We combine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multiparametric MRI with three-compartment tumor segmentation and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subject-specific anatomical parcellation. The trained deep-learning imaging model, the unified MONAI </a:t>
            </a:r>
            <a:r>
              <a:rPr lang="en" sz="1200" dirty="0" err="1"/>
              <a:t>BraTS</a:t>
            </a:r>
            <a:r>
              <a:rPr lang="en" sz="1200" dirty="0"/>
              <a:t> </a:t>
            </a:r>
            <a:r>
              <a:rPr lang="en" sz="1200" dirty="0" err="1"/>
              <a:t>SegResNet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pipeline uses T1, contrast-enhanced T1, T2 and FLAIR. The compartments are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non-enhancing or necrotic core, edema and enhancing tumor. </a:t>
            </a:r>
            <a:r>
              <a:rPr lang="en" sz="1200" dirty="0" err="1"/>
              <a:t>FreeSurfer</a:t>
            </a:r>
            <a:r>
              <a:rPr lang="en" sz="1200" dirty="0"/>
              <a:t> supplies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anatomical labels, and intersections produce overlap volumes and regional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profiles. In this published illustration, the compartment panel uses the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dataset's reference masks. It shows the anatomical workflow, rather than a new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prediction generated today. The public code accompanies the study. Our teaching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repository quotes its results and reuses attributed figures; it does not rerun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the trained model. [Point from MRI sequences to compartments and anatomy.]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Sources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https://</a:t>
            </a:r>
            <a:r>
              <a:rPr lang="en" sz="1200" dirty="0" err="1"/>
              <a:t>doi.org</a:t>
            </a:r>
            <a:r>
              <a:rPr lang="en" sz="1200" dirty="0"/>
              <a:t>/10.1080/03091902.2026.2713703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https://</a:t>
            </a:r>
            <a:r>
              <a:rPr lang="en" sz="1200" dirty="0" err="1"/>
              <a:t>github.com</a:t>
            </a:r>
            <a:r>
              <a:rPr lang="en" sz="1200" dirty="0"/>
              <a:t>/</a:t>
            </a:r>
            <a:r>
              <a:rPr lang="en" sz="1200" dirty="0" err="1"/>
              <a:t>arvidl</a:t>
            </a:r>
            <a:r>
              <a:rPr lang="en" sz="1200" dirty="0"/>
              <a:t>/high-precision-glioma-segmentation</a:t>
            </a:r>
            <a:endParaRPr dirty="0"/>
          </a:p>
        </p:txBody>
      </p:sp>
      <p:sp>
        <p:nvSpPr>
          <p:cNvPr id="272" name="Google Shape;272;h78c09809294d877f_15_3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h78c09809294d877f_15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2" name="Google Shape;292;h78c09809294d877f_15_5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Regional burden · 1:12 · cumulative 3:48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The top row shows published tumor-compartment boundaries over MRI in three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orthogonal views; the bottom row shows anatomy in the same subject space.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This locates a question: which region is involved, and what further observation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would be useful? A language assessment or physiological recording may be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appropriate. An anatomical label alone does not establish functional eloquence,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and a FLAIR-related compartment does not identify a cell program or a neuron–glioma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synapse. The AI supplies compartment segmentation in the published workflow;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anatomical interpretation still needs review. The backup hit-plot summarizes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intersections in milliliters. [Explain the shared location; do not read each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small region label.]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Sources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https://</a:t>
            </a:r>
            <a:r>
              <a:rPr lang="en" sz="1200" dirty="0" err="1"/>
              <a:t>doi.org</a:t>
            </a:r>
            <a:r>
              <a:rPr lang="en" sz="1200" dirty="0"/>
              <a:t>/10.1080/03091902.2026.2713703</a:t>
            </a:r>
            <a:endParaRPr dirty="0"/>
          </a:p>
        </p:txBody>
      </p:sp>
      <p:sp>
        <p:nvSpPr>
          <p:cNvPr id="293" name="Google Shape;293;h78c09809294d877f_15_5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h433ab110e2af6df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h433ab110e2af6df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h433ab110e2af6df9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h433ab110e2af6df9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h16aefd947c47a966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h16aefd947c47a966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h16aefd947c47a966_0_2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h16aefd947c47a966_0_2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h8d5d6711ddd8de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h8d5d6711ddd8de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h78c09809294d877f_8_7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h78c09809294d877f_8_7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h8d5d6711ddd8de9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h8d5d6711ddd8de9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h78c09809294d877f_8_13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h78c09809294d877f_8_13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h6b49f2efe54e0df_0_1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h6b49f2efe54e0df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h78c09809294d877f_8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2" name="Google Shape;492;h78c09809294d877f_8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HEADER_1">
  <p:cSld name="SECTION_HEADER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125" tIns="39550" rIns="79125" bIns="39550" anchor="t" anchorCtr="0">
            <a:norm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5" name="Google Shape;55;p14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125" tIns="39550" rIns="79125" bIns="39550" anchor="t" anchorCtr="0">
            <a:normAutofit/>
          </a:bodyPr>
          <a:lstStyle>
            <a:lvl1pPr marL="457200" marR="0" lvl="0" indent="-406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619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•"/>
              <a:defRPr sz="2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–"/>
              <a:defRPr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»"/>
              <a:defRPr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»"/>
              <a:defRPr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»"/>
              <a:defRPr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»"/>
              <a:defRPr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»"/>
              <a:defRPr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">
  <p:cSld name="Title and Content">
    <p:bg>
      <p:bgPr>
        <a:solidFill>
          <a:srgbClr val="FFFFFF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71" name="Google Shape;71;p2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72" name="Google Shape;72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5" name="Google Shape;75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9" name="Google Shape;79;p2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0" name="Google Shape;80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6" name="Google Shape;86;p2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7" name="Google Shape;87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90" name="Google Shape;90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94" name="Google Shape;94;p2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95" name="Google Shape;95;p2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6" name="Google Shape;96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99" name="Google Shape;99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02" name="Google Shape;102;p2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3" name="Google Shape;103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bg>
      <p:bgPr>
        <a:solidFill>
          <a:srgbClr val="FFFFFF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HEADER_1">
  <p:cSld name="SECTION_HEADER_1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09" name="Google Shape;109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34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3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3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3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3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6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36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29" name="Google Shape;129;p3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3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3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7"/>
          <p:cNvSpPr txBox="1">
            <a:spLocks noGrp="1"/>
          </p:cNvSpPr>
          <p:nvPr>
            <p:ph type="title"/>
          </p:nvPr>
        </p:nvSpPr>
        <p:spPr>
          <a:xfrm>
            <a:off x="623888" y="1282305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37"/>
          <p:cNvSpPr txBox="1">
            <a:spLocks noGrp="1"/>
          </p:cNvSpPr>
          <p:nvPr>
            <p:ph type="body" idx="1"/>
          </p:nvPr>
        </p:nvSpPr>
        <p:spPr>
          <a:xfrm>
            <a:off x="623888" y="3442098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35" name="Google Shape;135;p3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3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3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38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1" name="Google Shape;141;p38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2" name="Google Shape;142;p3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3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3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9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39"/>
          <p:cNvSpPr txBox="1">
            <a:spLocks noGrp="1"/>
          </p:cNvSpPr>
          <p:nvPr>
            <p:ph type="body" idx="1"/>
          </p:nvPr>
        </p:nvSpPr>
        <p:spPr>
          <a:xfrm>
            <a:off x="629842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48" name="Google Shape;148;p39"/>
          <p:cNvSpPr txBox="1">
            <a:spLocks noGrp="1"/>
          </p:cNvSpPr>
          <p:nvPr>
            <p:ph type="body" idx="2"/>
          </p:nvPr>
        </p:nvSpPr>
        <p:spPr>
          <a:xfrm>
            <a:off x="629842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9" name="Google Shape;149;p39"/>
          <p:cNvSpPr txBox="1">
            <a:spLocks noGrp="1"/>
          </p:cNvSpPr>
          <p:nvPr>
            <p:ph type="body" idx="3"/>
          </p:nvPr>
        </p:nvSpPr>
        <p:spPr>
          <a:xfrm>
            <a:off x="4629151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50" name="Google Shape;150;p39"/>
          <p:cNvSpPr txBox="1">
            <a:spLocks noGrp="1"/>
          </p:cNvSpPr>
          <p:nvPr>
            <p:ph type="body" idx="4"/>
          </p:nvPr>
        </p:nvSpPr>
        <p:spPr>
          <a:xfrm>
            <a:off x="4629151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1" name="Google Shape;151;p3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3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3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4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4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1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41"/>
          <p:cNvSpPr txBox="1">
            <a:spLocks noGrp="1"/>
          </p:cNvSpPr>
          <p:nvPr>
            <p:ph type="body" idx="1"/>
          </p:nvPr>
        </p:nvSpPr>
        <p:spPr>
          <a:xfrm>
            <a:off x="3887391" y="740570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62" name="Google Shape;162;p41"/>
          <p:cNvSpPr txBox="1">
            <a:spLocks noGrp="1"/>
          </p:cNvSpPr>
          <p:nvPr>
            <p:ph type="body" idx="2"/>
          </p:nvPr>
        </p:nvSpPr>
        <p:spPr>
          <a:xfrm>
            <a:off x="629841" y="1543051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63" name="Google Shape;163;p4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4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2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42"/>
          <p:cNvSpPr>
            <a:spLocks noGrp="1"/>
          </p:cNvSpPr>
          <p:nvPr>
            <p:ph type="pic" idx="2"/>
          </p:nvPr>
        </p:nvSpPr>
        <p:spPr>
          <a:xfrm>
            <a:off x="3887391" y="740570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42"/>
          <p:cNvSpPr txBox="1">
            <a:spLocks noGrp="1"/>
          </p:cNvSpPr>
          <p:nvPr>
            <p:ph type="body" idx="1"/>
          </p:nvPr>
        </p:nvSpPr>
        <p:spPr>
          <a:xfrm>
            <a:off x="629841" y="1543051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70" name="Google Shape;170;p4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4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43"/>
          <p:cNvSpPr txBox="1">
            <a:spLocks noGrp="1"/>
          </p:cNvSpPr>
          <p:nvPr>
            <p:ph type="body" idx="1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76" name="Google Shape;176;p4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4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4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4"/>
          <p:cNvSpPr txBox="1">
            <a:spLocks noGrp="1"/>
          </p:cNvSpPr>
          <p:nvPr>
            <p:ph type="title"/>
          </p:nvPr>
        </p:nvSpPr>
        <p:spPr>
          <a:xfrm rot="5400000">
            <a:off x="5350051" y="1467545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44"/>
          <p:cNvSpPr txBox="1">
            <a:spLocks noGrp="1"/>
          </p:cNvSpPr>
          <p:nvPr>
            <p:ph type="body" idx="1"/>
          </p:nvPr>
        </p:nvSpPr>
        <p:spPr>
          <a:xfrm rot="5400000">
            <a:off x="1349476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82" name="Google Shape;182;p4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4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4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3" name="Google Shape;63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" name="Google Shape;64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112" name="Google Shape;112;p3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3" name="Google Shape;113;p3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4" name="Google Shape;114;p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5" name="Google Shape;115;p3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hyperlink" Target="https://github.com/arvidl/brainweb_fisher_kpp" TargetMode="External"/><Relationship Id="rId3" Type="http://schemas.openxmlformats.org/officeDocument/2006/relationships/hyperlink" Target="https://brain.sdu.edu.cn/en/ChiNor_Brain_Research_Centre.htm" TargetMode="External"/><Relationship Id="rId7" Type="http://schemas.openxmlformats.org/officeDocument/2006/relationships/image" Target="../media/image4.png"/><Relationship Id="rId12" Type="http://schemas.openxmlformats.org/officeDocument/2006/relationships/hyperlink" Target="https://github.com/arvidl/glioma-growth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hyperlink" Target="https://github.com/arvidl/high-precision-glioma-segmentation" TargetMode="External"/><Relationship Id="rId5" Type="http://schemas.openxmlformats.org/officeDocument/2006/relationships/image" Target="../media/image2.png"/><Relationship Id="rId15" Type="http://schemas.openxmlformats.org/officeDocument/2006/relationships/image" Target="../media/image6.png"/><Relationship Id="rId10" Type="http://schemas.openxmlformats.org/officeDocument/2006/relationships/hyperlink" Target="https://github.com/arvidl/glioma-brain-digital-twin-public" TargetMode="External"/><Relationship Id="rId4" Type="http://schemas.openxmlformats.org/officeDocument/2006/relationships/image" Target="../media/image1.png"/><Relationship Id="rId9" Type="http://schemas.openxmlformats.org/officeDocument/2006/relationships/hyperlink" Target="https://github.com/arvidl/AI-assisted-glioma-research" TargetMode="External"/><Relationship Id="rId14" Type="http://schemas.openxmlformats.org/officeDocument/2006/relationships/hyperlink" Target="https://github.com/arvidl/glioma-connectivity-and-cognition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5.png"/><Relationship Id="rId18" Type="http://schemas.openxmlformats.org/officeDocument/2006/relationships/hyperlink" Target="https://www.tandfonline.com/doi/full/10.1080/03091902.2026.2713703" TargetMode="External"/><Relationship Id="rId3" Type="http://schemas.openxmlformats.org/officeDocument/2006/relationships/image" Target="../media/image7.png"/><Relationship Id="rId21" Type="http://schemas.openxmlformats.org/officeDocument/2006/relationships/image" Target="../media/image22.png"/><Relationship Id="rId7" Type="http://schemas.openxmlformats.org/officeDocument/2006/relationships/image" Target="../media/image10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8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nature.com/articles/d41586-023-01387-1" TargetMode="External"/><Relationship Id="rId11" Type="http://schemas.openxmlformats.org/officeDocument/2006/relationships/image" Target="../media/image13.png"/><Relationship Id="rId5" Type="http://schemas.openxmlformats.org/officeDocument/2006/relationships/image" Target="../media/image9.png"/><Relationship Id="rId15" Type="http://schemas.openxmlformats.org/officeDocument/2006/relationships/image" Target="../media/image17.png"/><Relationship Id="rId10" Type="http://schemas.openxmlformats.org/officeDocument/2006/relationships/hyperlink" Target="https://doi.org/10.1073/pnas.2513172122" TargetMode="External"/><Relationship Id="rId19" Type="http://schemas.openxmlformats.org/officeDocument/2006/relationships/image" Target="../media/image20.png"/><Relationship Id="rId4" Type="http://schemas.openxmlformats.org/officeDocument/2006/relationships/image" Target="../media/image8.png"/><Relationship Id="rId9" Type="http://schemas.openxmlformats.org/officeDocument/2006/relationships/image" Target="../media/image12.png"/><Relationship Id="rId1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ture.com/articles/s41698-024-00575-0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6.png"/><Relationship Id="rId5" Type="http://schemas.openxmlformats.org/officeDocument/2006/relationships/hyperlink" Target="https://github.com/arvidl/high-precision-glioma-segmentation" TargetMode="External"/><Relationship Id="rId4" Type="http://schemas.openxmlformats.org/officeDocument/2006/relationships/hyperlink" Target="https://doi.org/10.1080/03091902.2026.2713703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hyperlink" Target="https://github.com/arvidl/brainweb_fisher_kpp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gi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arvidl/brainweb_fisher_kpp" TargetMode="External"/><Relationship Id="rId3" Type="http://schemas.openxmlformats.org/officeDocument/2006/relationships/slideLayout" Target="../slideLayouts/slideLayout15.xml"/><Relationship Id="rId7" Type="http://schemas.openxmlformats.org/officeDocument/2006/relationships/image" Target="../media/image38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37.png"/><Relationship Id="rId5" Type="http://schemas.openxmlformats.org/officeDocument/2006/relationships/image" Target="../media/image29.png"/><Relationship Id="rId4" Type="http://schemas.openxmlformats.org/officeDocument/2006/relationships/notesSlide" Target="../notesSlides/notesSlide8.xml"/><Relationship Id="rId9" Type="http://schemas.openxmlformats.org/officeDocument/2006/relationships/image" Target="../media/image3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4.gif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frontiersin.org/journals/oncology/articles/10.3389/fonc.2021.703764/full" TargetMode="Externa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4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arvidl/brainweb_fisher_kpp" TargetMode="External"/><Relationship Id="rId5" Type="http://schemas.openxmlformats.org/officeDocument/2006/relationships/image" Target="../media/image46.png"/><Relationship Id="rId10" Type="http://schemas.openxmlformats.org/officeDocument/2006/relationships/image" Target="../media/image50.png"/><Relationship Id="rId4" Type="http://schemas.openxmlformats.org/officeDocument/2006/relationships/image" Target="../media/image45.gif"/><Relationship Id="rId9" Type="http://schemas.openxmlformats.org/officeDocument/2006/relationships/image" Target="../media/image4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1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5" Type="http://schemas.openxmlformats.org/officeDocument/2006/relationships/image" Target="../media/image51.png"/><Relationship Id="rId10" Type="http://schemas.openxmlformats.org/officeDocument/2006/relationships/image" Target="../media/image56.png"/><Relationship Id="rId4" Type="http://schemas.openxmlformats.org/officeDocument/2006/relationships/image" Target="../media/image45.gif"/><Relationship Id="rId9" Type="http://schemas.openxmlformats.org/officeDocument/2006/relationships/image" Target="../media/image55.gi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Relationship Id="rId5" Type="http://schemas.openxmlformats.org/officeDocument/2006/relationships/hyperlink" Target="https://github.com/arvidl/glioma-brain-digital-twin-public" TargetMode="External"/><Relationship Id="rId4" Type="http://schemas.openxmlformats.org/officeDocument/2006/relationships/image" Target="../media/image5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g"/><Relationship Id="rId7" Type="http://schemas.openxmlformats.org/officeDocument/2006/relationships/hyperlink" Target="https://github.com/arvidl/glioma-brain-digital-twin-public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13" Type="http://schemas.openxmlformats.org/officeDocument/2006/relationships/image" Target="../media/image70.png"/><Relationship Id="rId18" Type="http://schemas.openxmlformats.org/officeDocument/2006/relationships/image" Target="../media/image75.png"/><Relationship Id="rId3" Type="http://schemas.openxmlformats.org/officeDocument/2006/relationships/image" Target="../media/image64.jpg"/><Relationship Id="rId21" Type="http://schemas.openxmlformats.org/officeDocument/2006/relationships/image" Target="../media/image59.png"/><Relationship Id="rId7" Type="http://schemas.openxmlformats.org/officeDocument/2006/relationships/hyperlink" Target="https://doi.org/10.1093/bib/bbaf722" TargetMode="External"/><Relationship Id="rId12" Type="http://schemas.openxmlformats.org/officeDocument/2006/relationships/image" Target="../media/image69.png"/><Relationship Id="rId17" Type="http://schemas.openxmlformats.org/officeDocument/2006/relationships/image" Target="../media/image74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73.png"/><Relationship Id="rId20" Type="http://schemas.openxmlformats.org/officeDocument/2006/relationships/image" Target="../media/image77.png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doi.org/10.1186/s40708-025-00283-w" TargetMode="External"/><Relationship Id="rId11" Type="http://schemas.openxmlformats.org/officeDocument/2006/relationships/image" Target="../media/image68.png"/><Relationship Id="rId5" Type="http://schemas.openxmlformats.org/officeDocument/2006/relationships/hyperlink" Target="https://www.pnas.org/doi/10.1073/pnas.1517384113" TargetMode="External"/><Relationship Id="rId15" Type="http://schemas.openxmlformats.org/officeDocument/2006/relationships/image" Target="../media/image72.png"/><Relationship Id="rId10" Type="http://schemas.openxmlformats.org/officeDocument/2006/relationships/image" Target="../media/image67.png"/><Relationship Id="rId19" Type="http://schemas.openxmlformats.org/officeDocument/2006/relationships/image" Target="../media/image76.png"/><Relationship Id="rId4" Type="http://schemas.openxmlformats.org/officeDocument/2006/relationships/hyperlink" Target="https://link.aps.org/doi/10.1103/d4tm-92vb" TargetMode="External"/><Relationship Id="rId9" Type="http://schemas.openxmlformats.org/officeDocument/2006/relationships/image" Target="../media/image66.png"/><Relationship Id="rId14" Type="http://schemas.openxmlformats.org/officeDocument/2006/relationships/image" Target="../media/image71.png"/><Relationship Id="rId22" Type="http://schemas.openxmlformats.org/officeDocument/2006/relationships/hyperlink" Target="https://github.com/arvidl/glioma-brain-digital-twin-public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rvidl/AI-assisted-glioma-research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1.xml"/><Relationship Id="rId5" Type="http://schemas.openxmlformats.org/officeDocument/2006/relationships/image" Target="../media/image78.png"/><Relationship Id="rId4" Type="http://schemas.openxmlformats.org/officeDocument/2006/relationships/hyperlink" Target="https://colab.research.google.com/github/arvidl/AI-assisted-glioma-research/blob/main/notebooks/13_research_workflow_examples.ipynb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6.png"/><Relationship Id="rId4" Type="http://schemas.openxmlformats.org/officeDocument/2006/relationships/image" Target="../media/image8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5"/>
          <p:cNvSpPr txBox="1"/>
          <p:nvPr/>
        </p:nvSpPr>
        <p:spPr>
          <a:xfrm>
            <a:off x="5679595" y="8857"/>
            <a:ext cx="2544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32413E"/>
                </a:solidFill>
                <a:latin typeface="Arial"/>
                <a:ea typeface="Arial"/>
                <a:cs typeface="Arial"/>
                <a:sym typeface="Arial"/>
              </a:rPr>
              <a:t>ChiNor Brain Science Research</a:t>
            </a:r>
            <a:endParaRPr sz="1800" b="1" i="0" u="none" strike="noStrike" cap="none">
              <a:solidFill>
                <a:srgbClr val="32413E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90" name="Google Shape;190;p4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86551" y="44397"/>
            <a:ext cx="600775" cy="56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96100" y="300166"/>
            <a:ext cx="1874473" cy="32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4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87590" y="317140"/>
            <a:ext cx="821683" cy="290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4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825" y="8850"/>
            <a:ext cx="687075" cy="68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4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9950" y="4764174"/>
            <a:ext cx="645500" cy="29047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45"/>
          <p:cNvSpPr txBox="1"/>
          <p:nvPr/>
        </p:nvSpPr>
        <p:spPr>
          <a:xfrm>
            <a:off x="254550" y="2720712"/>
            <a:ext cx="8634900" cy="18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>
                <a:solidFill>
                  <a:srgbClr val="003E60"/>
                </a:solidFill>
                <a:latin typeface="Arial"/>
                <a:ea typeface="Arial"/>
                <a:cs typeface="Arial"/>
                <a:sym typeface="Arial"/>
              </a:rPr>
              <a:t>Arvid Lundervold </a:t>
            </a:r>
            <a:r>
              <a:rPr lang="en" sz="1600" b="0" i="0" u="none" strike="noStrike" cap="non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400" b="0" i="0" u="none" strike="noStrike" cap="non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BSc, MD, PhD</a:t>
            </a:r>
            <a:endParaRPr sz="1400" b="0" i="0" u="none" strike="noStrike" cap="none">
              <a:solidFill>
                <a:srgbClr val="14141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0" i="0" u="none" strike="noStrike" cap="non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Professor em. medical information technology and physiology</a:t>
            </a:r>
            <a:endParaRPr sz="1500" b="0" i="0" u="none" strike="noStrike" cap="none">
              <a:solidFill>
                <a:srgbClr val="14141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Arial"/>
              <a:buNone/>
            </a:pPr>
            <a:endParaRPr sz="300" b="0" i="0" u="none" strike="noStrike" cap="none">
              <a:solidFill>
                <a:srgbClr val="14141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Department of Biomedicine, University of Bergen, Norway</a:t>
            </a:r>
            <a:endParaRPr sz="1400" b="0" i="0" u="none" strike="noStrike" cap="none">
              <a:solidFill>
                <a:srgbClr val="14141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Mohn Medical Imaging and Visualization Center, Department of Radiology, Haukeland University Hospital Bergen, Norway</a:t>
            </a:r>
            <a:endParaRPr sz="1400" b="0" i="0" u="none" strike="noStrike" cap="none">
              <a:solidFill>
                <a:srgbClr val="14141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45"/>
          <p:cNvSpPr txBox="1"/>
          <p:nvPr/>
        </p:nvSpPr>
        <p:spPr>
          <a:xfrm>
            <a:off x="79950" y="785948"/>
            <a:ext cx="8984100" cy="15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1"/>
              <a:t>AI-assisted Glioma Research</a:t>
            </a:r>
            <a:r>
              <a:rPr lang="en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1600" b="1"/>
              <a:t>Imaging, Tumor-Brain Interactions, and Cognition</a:t>
            </a:r>
            <a:endParaRPr sz="16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2026 </a:t>
            </a:r>
            <a:r>
              <a:rPr lang="en" sz="1600" b="0" i="0" u="none" strike="noStrike" cap="none">
                <a:latin typeface="Arial"/>
                <a:ea typeface="Arial"/>
                <a:cs typeface="Arial"/>
                <a:sym typeface="Arial"/>
              </a:rPr>
              <a:t>China-Europe Neurosurgery Academic Symposiu</a:t>
            </a:r>
            <a:r>
              <a:rPr lang="en" sz="1600"/>
              <a:t>m</a:t>
            </a:r>
            <a:r>
              <a:rPr lang="en" sz="1600" b="0" i="0" u="none" strike="noStrike" cap="none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1600"/>
              <a:t>Jinan</a:t>
            </a:r>
            <a:r>
              <a:rPr lang="en" sz="1600" b="0" i="0" u="none" strike="noStrike" cap="none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1600"/>
              <a:t>22-25</a:t>
            </a:r>
            <a:r>
              <a:rPr lang="en" sz="1600" b="0" i="0" u="none" strike="noStrike" cap="non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600"/>
              <a:t>October</a:t>
            </a:r>
            <a:r>
              <a:rPr lang="en" sz="1600" b="0" i="0" u="none" strike="noStrike" cap="none">
                <a:latin typeface="Arial"/>
                <a:ea typeface="Arial"/>
                <a:cs typeface="Arial"/>
                <a:sym typeface="Arial"/>
              </a:rPr>
              <a:t> 202</a:t>
            </a:r>
            <a:r>
              <a:rPr lang="en" sz="1600"/>
              <a:t>6</a:t>
            </a:r>
            <a:endParaRPr sz="16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7" name="Google Shape;197;p45"/>
          <p:cNvGrpSpPr/>
          <p:nvPr/>
        </p:nvGrpSpPr>
        <p:grpSpPr>
          <a:xfrm>
            <a:off x="859331" y="4434926"/>
            <a:ext cx="8242589" cy="731008"/>
            <a:chOff x="859331" y="4434926"/>
            <a:chExt cx="8242589" cy="731008"/>
          </a:xfrm>
        </p:grpSpPr>
        <p:sp>
          <p:nvSpPr>
            <p:cNvPr id="198" name="Google Shape;198;p45"/>
            <p:cNvSpPr txBox="1"/>
            <p:nvPr/>
          </p:nvSpPr>
          <p:spPr>
            <a:xfrm>
              <a:off x="6557020" y="4805808"/>
              <a:ext cx="2544900" cy="2925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" sz="700" b="1">
                  <a:solidFill>
                    <a:srgbClr val="0000FF"/>
                  </a:solidFill>
                  <a:uFill>
                    <a:noFill/>
                  </a:uFill>
                  <a:hlinkClick r:id="rId9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https://github.com/arvidl/AI-assisted-glioma-research</a:t>
              </a:r>
              <a:endParaRPr sz="700" b="1" i="0" strike="noStrike" cap="none">
                <a:solidFill>
                  <a:srgbClr val="0000FF"/>
                </a:solidFill>
              </a:endParaRPr>
            </a:p>
          </p:txBody>
        </p:sp>
        <p:sp>
          <p:nvSpPr>
            <p:cNvPr id="199" name="Google Shape;199;p45"/>
            <p:cNvSpPr txBox="1"/>
            <p:nvPr/>
          </p:nvSpPr>
          <p:spPr>
            <a:xfrm>
              <a:off x="957780" y="4726198"/>
              <a:ext cx="22368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 b="1">
                  <a:solidFill>
                    <a:srgbClr val="0000FF"/>
                  </a:solidFill>
                  <a:uFill>
                    <a:noFill/>
                  </a:uFill>
                  <a:hlinkClick r:id="rId10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https://github.com/arvidl/glioma-brain-digital-twin-public</a:t>
              </a:r>
              <a:endParaRPr sz="600" b="1">
                <a:solidFill>
                  <a:srgbClr val="0000FF"/>
                </a:solidFill>
              </a:endParaRPr>
            </a:p>
          </p:txBody>
        </p:sp>
        <p:sp>
          <p:nvSpPr>
            <p:cNvPr id="200" name="Google Shape;200;p45"/>
            <p:cNvSpPr txBox="1"/>
            <p:nvPr/>
          </p:nvSpPr>
          <p:spPr>
            <a:xfrm>
              <a:off x="859331" y="4889034"/>
              <a:ext cx="24402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 b="1">
                  <a:solidFill>
                    <a:srgbClr val="0000FF"/>
                  </a:solidFill>
                  <a:uFill>
                    <a:noFill/>
                  </a:uFill>
                  <a:hlinkClick r:id="rId11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https://github.com/arvidl/high-precision-glioma-segmentation</a:t>
              </a:r>
              <a:endParaRPr sz="600" b="1">
                <a:solidFill>
                  <a:srgbClr val="0000FF"/>
                </a:solidFill>
              </a:endParaRPr>
            </a:p>
          </p:txBody>
        </p:sp>
        <p:sp>
          <p:nvSpPr>
            <p:cNvPr id="201" name="Google Shape;201;p45"/>
            <p:cNvSpPr txBox="1"/>
            <p:nvPr/>
          </p:nvSpPr>
          <p:spPr>
            <a:xfrm>
              <a:off x="1200403" y="4571994"/>
              <a:ext cx="17187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 b="1">
                  <a:solidFill>
                    <a:srgbClr val="0000FF"/>
                  </a:solidFill>
                  <a:uFill>
                    <a:noFill/>
                  </a:uFill>
                  <a:hlinkClick r:id="rId12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https://github.com/arvidl/glioma-growth</a:t>
              </a:r>
              <a:endParaRPr sz="600" b="1">
                <a:solidFill>
                  <a:srgbClr val="0000FF"/>
                </a:solidFill>
              </a:endParaRPr>
            </a:p>
          </p:txBody>
        </p:sp>
        <p:sp>
          <p:nvSpPr>
            <p:cNvPr id="202" name="Google Shape;202;p45"/>
            <p:cNvSpPr txBox="1"/>
            <p:nvPr/>
          </p:nvSpPr>
          <p:spPr>
            <a:xfrm>
              <a:off x="6889678" y="4434926"/>
              <a:ext cx="18744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 b="1">
                  <a:solidFill>
                    <a:srgbClr val="0000FF"/>
                  </a:solidFill>
                  <a:uFill>
                    <a:noFill/>
                  </a:uFill>
                  <a:hlinkClick r:id="rId1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https://github.com/arvidl/brainweb_fisher_kpp</a:t>
              </a:r>
              <a:endParaRPr sz="600" b="1">
                <a:solidFill>
                  <a:srgbClr val="0000FF"/>
                </a:solidFill>
              </a:endParaRPr>
            </a:p>
          </p:txBody>
        </p:sp>
        <p:sp>
          <p:nvSpPr>
            <p:cNvPr id="203" name="Google Shape;203;p45"/>
            <p:cNvSpPr txBox="1"/>
            <p:nvPr/>
          </p:nvSpPr>
          <p:spPr>
            <a:xfrm>
              <a:off x="3369502" y="4740290"/>
              <a:ext cx="28875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←</a:t>
              </a:r>
              <a:r>
                <a:rPr lang="en" sz="800"/>
                <a:t> </a:t>
              </a:r>
              <a:r>
                <a:rPr lang="en" sz="800" b="1"/>
                <a:t>  </a:t>
              </a:r>
              <a:r>
                <a:rPr lang="en" sz="800" i="1"/>
                <a:t>Raw, hands-on educational and research material</a:t>
              </a:r>
              <a:r>
                <a:rPr lang="en" sz="800" b="1"/>
                <a:t>  </a:t>
              </a:r>
              <a:r>
                <a:rPr lang="en" sz="1000"/>
                <a:t>→</a:t>
              </a:r>
              <a:endParaRPr sz="1000"/>
            </a:p>
          </p:txBody>
        </p:sp>
        <p:sp>
          <p:nvSpPr>
            <p:cNvPr id="204" name="Google Shape;204;p45"/>
            <p:cNvSpPr txBox="1"/>
            <p:nvPr/>
          </p:nvSpPr>
          <p:spPr>
            <a:xfrm>
              <a:off x="6595016" y="4567825"/>
              <a:ext cx="23448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 b="1">
                  <a:solidFill>
                    <a:srgbClr val="0000FF"/>
                  </a:solidFill>
                  <a:uFill>
                    <a:noFill/>
                  </a:uFill>
                  <a:hlinkClick r:id="rId1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https://github.com/arvidl/glioma-connectivity-and-cognition</a:t>
              </a:r>
              <a:endParaRPr sz="600" b="1">
                <a:solidFill>
                  <a:srgbClr val="0000FF"/>
                </a:solidFill>
              </a:endParaRPr>
            </a:p>
          </p:txBody>
        </p:sp>
      </p:grpSp>
      <p:pic>
        <p:nvPicPr>
          <p:cNvPr id="205" name="Google Shape;205;p45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8041637" y="757294"/>
            <a:ext cx="991725" cy="99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6"/>
          <p:cNvSpPr txBox="1"/>
          <p:nvPr/>
        </p:nvSpPr>
        <p:spPr>
          <a:xfrm>
            <a:off x="2296427" y="2374125"/>
            <a:ext cx="48669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/>
              <a:t>Motivation and Inspiration</a:t>
            </a:r>
            <a:endParaRPr sz="2600" b="1"/>
          </a:p>
        </p:txBody>
      </p:sp>
      <p:sp>
        <p:nvSpPr>
          <p:cNvPr id="211" name="Google Shape;211;p46"/>
          <p:cNvSpPr txBox="1"/>
          <p:nvPr/>
        </p:nvSpPr>
        <p:spPr>
          <a:xfrm>
            <a:off x="79950" y="785948"/>
            <a:ext cx="89841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1">
                <a:solidFill>
                  <a:srgbClr val="D9D9D9"/>
                </a:solidFill>
              </a:rPr>
              <a:t>AI-assisted Glioma Research</a:t>
            </a:r>
            <a:r>
              <a:rPr lang="en" sz="2400" b="1" i="0" u="none" strike="noStrike" cap="non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400" b="1" i="0" u="none" strike="noStrike" cap="none">
              <a:solidFill>
                <a:srgbClr val="D9D9D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1600" b="1">
                <a:solidFill>
                  <a:srgbClr val="D9D9D9"/>
                </a:solidFill>
              </a:rPr>
              <a:t>Imaging, Tumor-Brain Interactions, and Cognition</a:t>
            </a:r>
            <a:endParaRPr sz="1600" b="0" i="0" u="none" strike="noStrike" cap="none">
              <a:solidFill>
                <a:srgbClr val="D9D9D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46"/>
          <p:cNvSpPr txBox="1"/>
          <p:nvPr/>
        </p:nvSpPr>
        <p:spPr>
          <a:xfrm>
            <a:off x="1123125" y="4504975"/>
            <a:ext cx="6960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Understanding glioma through AI-assisted imaging and modeling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7950" y="4753975"/>
            <a:ext cx="475575" cy="126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8" name="Google Shape;218;p47"/>
          <p:cNvGrpSpPr/>
          <p:nvPr/>
        </p:nvGrpSpPr>
        <p:grpSpPr>
          <a:xfrm>
            <a:off x="116150" y="-69713"/>
            <a:ext cx="2454932" cy="3864213"/>
            <a:chOff x="116150" y="-69713"/>
            <a:chExt cx="2454932" cy="3864213"/>
          </a:xfrm>
        </p:grpSpPr>
        <p:pic>
          <p:nvPicPr>
            <p:cNvPr id="219" name="Google Shape;219;p47"/>
            <p:cNvPicPr preferRelativeResize="0"/>
            <p:nvPr/>
          </p:nvPicPr>
          <p:blipFill rotWithShape="1">
            <a:blip r:embed="rId4">
              <a:alphaModFix/>
            </a:blip>
            <a:srcRect b="27620"/>
            <a:stretch/>
          </p:blipFill>
          <p:spPr>
            <a:xfrm>
              <a:off x="183375" y="949175"/>
              <a:ext cx="2310150" cy="28453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20" name="Google Shape;220;p47"/>
            <p:cNvGrpSpPr/>
            <p:nvPr/>
          </p:nvGrpSpPr>
          <p:grpSpPr>
            <a:xfrm>
              <a:off x="116150" y="-69713"/>
              <a:ext cx="2454932" cy="1018888"/>
              <a:chOff x="116150" y="-69713"/>
              <a:chExt cx="2454932" cy="1018888"/>
            </a:xfrm>
          </p:grpSpPr>
          <p:pic>
            <p:nvPicPr>
              <p:cNvPr id="221" name="Google Shape;221;p47"/>
              <p:cNvPicPr preferRelativeResize="0"/>
              <p:nvPr/>
            </p:nvPicPr>
            <p:blipFill rotWithShape="1">
              <a:blip r:embed="rId5">
                <a:alphaModFix/>
              </a:blip>
              <a:srcRect t="13051"/>
              <a:stretch/>
            </p:blipFill>
            <p:spPr>
              <a:xfrm>
                <a:off x="116150" y="123901"/>
                <a:ext cx="2310149" cy="82527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2" name="Google Shape;222;p47"/>
              <p:cNvSpPr txBox="1"/>
              <p:nvPr/>
            </p:nvSpPr>
            <p:spPr>
              <a:xfrm>
                <a:off x="1071082" y="-69713"/>
                <a:ext cx="1500000" cy="29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00">
                    <a:solidFill>
                      <a:schemeClr val="dk1"/>
                    </a:solidFill>
                  </a:rPr>
                  <a:t>Nature 2023;617:469-471 [</a:t>
                </a:r>
                <a:r>
                  <a:rPr lang="en" sz="700">
                    <a:solidFill>
                      <a:srgbClr val="0000FF"/>
                    </a:solidFill>
                    <a:uFill>
                      <a:noFill/>
                    </a:uFill>
                    <a:hlinkClick r:id="rId6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link</a:t>
                </a:r>
                <a:r>
                  <a:rPr lang="en" sz="700">
                    <a:solidFill>
                      <a:schemeClr val="dk1"/>
                    </a:solidFill>
                  </a:rPr>
                  <a:t>] </a:t>
                </a:r>
                <a:endParaRPr/>
              </a:p>
            </p:txBody>
          </p:sp>
        </p:grpSp>
      </p:grpSp>
      <p:grpSp>
        <p:nvGrpSpPr>
          <p:cNvPr id="223" name="Google Shape;223;p47"/>
          <p:cNvGrpSpPr/>
          <p:nvPr/>
        </p:nvGrpSpPr>
        <p:grpSpPr>
          <a:xfrm>
            <a:off x="126550" y="890530"/>
            <a:ext cx="2736610" cy="4326176"/>
            <a:chOff x="126550" y="890530"/>
            <a:chExt cx="2736610" cy="4326176"/>
          </a:xfrm>
        </p:grpSpPr>
        <p:sp>
          <p:nvSpPr>
            <p:cNvPr id="224" name="Google Shape;224;p47"/>
            <p:cNvSpPr txBox="1"/>
            <p:nvPr/>
          </p:nvSpPr>
          <p:spPr>
            <a:xfrm>
              <a:off x="126550" y="4801206"/>
              <a:ext cx="24213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0" b="1"/>
                <a:t>Figure 1 | Models for cognitive problems associated with brain tumours.</a:t>
              </a:r>
              <a:r>
                <a:rPr lang="en" sz="500"/>
                <a:t> The human brain contains regions that are important for language processing, such as an area on the left side of the brain.</a:t>
              </a:r>
              <a:endParaRPr sz="700"/>
            </a:p>
          </p:txBody>
        </p:sp>
        <p:pic>
          <p:nvPicPr>
            <p:cNvPr id="225" name="Google Shape;225;p47"/>
            <p:cNvPicPr preferRelativeResize="0"/>
            <p:nvPr/>
          </p:nvPicPr>
          <p:blipFill rotWithShape="1">
            <a:blip r:embed="rId4">
              <a:alphaModFix/>
            </a:blip>
            <a:srcRect t="71593"/>
            <a:stretch/>
          </p:blipFill>
          <p:spPr>
            <a:xfrm>
              <a:off x="183375" y="3755361"/>
              <a:ext cx="2310150" cy="11167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6" name="Google Shape;226;p47"/>
            <p:cNvSpPr txBox="1"/>
            <p:nvPr/>
          </p:nvSpPr>
          <p:spPr>
            <a:xfrm rot="1068776">
              <a:off x="1542578" y="1073885"/>
              <a:ext cx="1275864" cy="4924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Cancer </a:t>
              </a:r>
              <a:endParaRPr sz="1000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  neuroscience</a:t>
              </a:r>
              <a:endParaRPr sz="1000"/>
            </a:p>
          </p:txBody>
        </p:sp>
      </p:grpSp>
      <p:grpSp>
        <p:nvGrpSpPr>
          <p:cNvPr id="227" name="Google Shape;227;p47"/>
          <p:cNvGrpSpPr/>
          <p:nvPr/>
        </p:nvGrpSpPr>
        <p:grpSpPr>
          <a:xfrm>
            <a:off x="2703750" y="11732"/>
            <a:ext cx="2414974" cy="1192118"/>
            <a:chOff x="2703750" y="30500"/>
            <a:chExt cx="2414974" cy="1192118"/>
          </a:xfrm>
        </p:grpSpPr>
        <p:pic>
          <p:nvPicPr>
            <p:cNvPr id="228" name="Google Shape;228;p47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2703750" y="30504"/>
              <a:ext cx="2414974" cy="1124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9" name="Google Shape;229;p47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4580400" y="54039"/>
              <a:ext cx="479775" cy="1072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0" name="Google Shape;230;p47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4699348" y="30500"/>
              <a:ext cx="241883" cy="107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1" name="Google Shape;231;p47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3525175" y="1042702"/>
              <a:ext cx="834800" cy="107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2" name="Google Shape;232;p47"/>
            <p:cNvSpPr txBox="1"/>
            <p:nvPr/>
          </p:nvSpPr>
          <p:spPr>
            <a:xfrm>
              <a:off x="3744300" y="961018"/>
              <a:ext cx="13158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0">
                  <a:solidFill>
                    <a:srgbClr val="0000FF"/>
                  </a:solidFill>
                  <a:highlight>
                    <a:srgbClr val="FFFFFF"/>
                  </a:highlight>
                  <a:uFill>
                    <a:noFill/>
                  </a:uFill>
                  <a:hlinkClick r:id="rId10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https://doi.org/10.1073/pnas.251317212</a:t>
              </a:r>
              <a:endParaRPr sz="500">
                <a:solidFill>
                  <a:srgbClr val="0000FF"/>
                </a:solidFill>
              </a:endParaRPr>
            </a:p>
          </p:txBody>
        </p:sp>
      </p:grpSp>
      <p:grpSp>
        <p:nvGrpSpPr>
          <p:cNvPr id="233" name="Google Shape;233;p47"/>
          <p:cNvGrpSpPr/>
          <p:nvPr/>
        </p:nvGrpSpPr>
        <p:grpSpPr>
          <a:xfrm>
            <a:off x="2703750" y="1150725"/>
            <a:ext cx="2373074" cy="2001570"/>
            <a:chOff x="2703750" y="1150725"/>
            <a:chExt cx="2373074" cy="2001570"/>
          </a:xfrm>
        </p:grpSpPr>
        <p:grpSp>
          <p:nvGrpSpPr>
            <p:cNvPr id="234" name="Google Shape;234;p47"/>
            <p:cNvGrpSpPr/>
            <p:nvPr/>
          </p:nvGrpSpPr>
          <p:grpSpPr>
            <a:xfrm>
              <a:off x="3176690" y="1501795"/>
              <a:ext cx="1900135" cy="1650500"/>
              <a:chOff x="3049865" y="1473689"/>
              <a:chExt cx="1656324" cy="1438846"/>
            </a:xfrm>
          </p:grpSpPr>
          <p:pic>
            <p:nvPicPr>
              <p:cNvPr id="235" name="Google Shape;235;p47"/>
              <p:cNvPicPr preferRelativeResize="0"/>
              <p:nvPr/>
            </p:nvPicPr>
            <p:blipFill>
              <a:blip r:embed="rId11">
                <a:alphaModFix/>
              </a:blip>
              <a:stretch>
                <a:fillRect/>
              </a:stretch>
            </p:blipFill>
            <p:spPr>
              <a:xfrm rot="10800000" flipH="1">
                <a:off x="3051640" y="1473689"/>
                <a:ext cx="1635225" cy="7324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6" name="Google Shape;236;p47"/>
              <p:cNvPicPr preferRelativeResize="0"/>
              <p:nvPr/>
            </p:nvPicPr>
            <p:blipFill>
              <a:blip r:embed="rId12">
                <a:alphaModFix/>
              </a:blip>
              <a:stretch>
                <a:fillRect/>
              </a:stretch>
            </p:blipFill>
            <p:spPr>
              <a:xfrm rot="10800000" flipH="1">
                <a:off x="3049865" y="2225036"/>
                <a:ext cx="1656324" cy="68749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37" name="Google Shape;237;p47"/>
            <p:cNvPicPr preferRelativeResize="0"/>
            <p:nvPr/>
          </p:nvPicPr>
          <p:blipFill>
            <a:blip r:embed="rId13">
              <a:alphaModFix/>
            </a:blip>
            <a:stretch>
              <a:fillRect/>
            </a:stretch>
          </p:blipFill>
          <p:spPr>
            <a:xfrm>
              <a:off x="3156075" y="1150725"/>
              <a:ext cx="1737800" cy="3434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8" name="Google Shape;238;p47"/>
            <p:cNvSpPr txBox="1"/>
            <p:nvPr/>
          </p:nvSpPr>
          <p:spPr>
            <a:xfrm>
              <a:off x="2703757" y="1708498"/>
              <a:ext cx="3462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T1</a:t>
              </a:r>
              <a:endParaRPr sz="800"/>
            </a:p>
          </p:txBody>
        </p:sp>
        <p:sp>
          <p:nvSpPr>
            <p:cNvPr id="239" name="Google Shape;239;p47"/>
            <p:cNvSpPr txBox="1"/>
            <p:nvPr/>
          </p:nvSpPr>
          <p:spPr>
            <a:xfrm>
              <a:off x="2703750" y="2371763"/>
              <a:ext cx="3462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T2</a:t>
              </a:r>
              <a:endParaRPr sz="800"/>
            </a:p>
          </p:txBody>
        </p:sp>
      </p:grpSp>
      <p:grpSp>
        <p:nvGrpSpPr>
          <p:cNvPr id="240" name="Google Shape;240;p47"/>
          <p:cNvGrpSpPr/>
          <p:nvPr/>
        </p:nvGrpSpPr>
        <p:grpSpPr>
          <a:xfrm>
            <a:off x="2491513" y="3183926"/>
            <a:ext cx="3040812" cy="2010199"/>
            <a:chOff x="2491513" y="3183926"/>
            <a:chExt cx="3040812" cy="2010199"/>
          </a:xfrm>
        </p:grpSpPr>
        <p:sp>
          <p:nvSpPr>
            <p:cNvPr id="241" name="Google Shape;241;p47"/>
            <p:cNvSpPr txBox="1"/>
            <p:nvPr/>
          </p:nvSpPr>
          <p:spPr>
            <a:xfrm>
              <a:off x="2491525" y="4932525"/>
              <a:ext cx="30408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0" spc="21"/>
                <a:t>Figure 5 Solid stress promotes hypoxic and inflammatory gene expression programs in vivo.</a:t>
              </a:r>
              <a:endParaRPr sz="500"/>
            </a:p>
          </p:txBody>
        </p:sp>
        <p:pic>
          <p:nvPicPr>
            <p:cNvPr id="242" name="Google Shape;242;p47"/>
            <p:cNvPicPr preferRelativeResize="0"/>
            <p:nvPr/>
          </p:nvPicPr>
          <p:blipFill>
            <a:blip r:embed="rId14">
              <a:alphaModFix/>
            </a:blip>
            <a:stretch>
              <a:fillRect/>
            </a:stretch>
          </p:blipFill>
          <p:spPr>
            <a:xfrm>
              <a:off x="3148775" y="3386235"/>
              <a:ext cx="1969951" cy="15578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3" name="Google Shape;243;p47"/>
            <p:cNvPicPr preferRelativeResize="0"/>
            <p:nvPr/>
          </p:nvPicPr>
          <p:blipFill>
            <a:blip r:embed="rId15">
              <a:alphaModFix/>
            </a:blip>
            <a:stretch>
              <a:fillRect/>
            </a:stretch>
          </p:blipFill>
          <p:spPr>
            <a:xfrm>
              <a:off x="3495625" y="3183926"/>
              <a:ext cx="999875" cy="1678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47"/>
            <p:cNvSpPr txBox="1"/>
            <p:nvPr/>
          </p:nvSpPr>
          <p:spPr>
            <a:xfrm>
              <a:off x="2491513" y="4164718"/>
              <a:ext cx="7368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00" spc="21"/>
                <a:t>Spearman correlation matrix showing a negative relationship between the solid stress response and synapse maintenance gene expression programs in excitatory neurons from GBM patients.</a:t>
              </a:r>
              <a:endParaRPr sz="400"/>
            </a:p>
          </p:txBody>
        </p:sp>
        <p:sp>
          <p:nvSpPr>
            <p:cNvPr id="245" name="Google Shape;245;p47"/>
            <p:cNvSpPr txBox="1"/>
            <p:nvPr/>
          </p:nvSpPr>
          <p:spPr>
            <a:xfrm>
              <a:off x="2503750" y="3484666"/>
              <a:ext cx="6729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00" spc="21"/>
                <a:t>Jaccard similarity matrix shows overlap between our solid stress response signature and Gene Ontology gene sets related to other stressors.</a:t>
              </a:r>
              <a:endParaRPr sz="400"/>
            </a:p>
          </p:txBody>
        </p:sp>
      </p:grpSp>
      <p:grpSp>
        <p:nvGrpSpPr>
          <p:cNvPr id="246" name="Google Shape;246;p47"/>
          <p:cNvGrpSpPr/>
          <p:nvPr/>
        </p:nvGrpSpPr>
        <p:grpSpPr>
          <a:xfrm>
            <a:off x="5251400" y="-29400"/>
            <a:ext cx="3874074" cy="756275"/>
            <a:chOff x="5251400" y="-29400"/>
            <a:chExt cx="3874074" cy="756275"/>
          </a:xfrm>
        </p:grpSpPr>
        <p:pic>
          <p:nvPicPr>
            <p:cNvPr id="247" name="Google Shape;247;p47"/>
            <p:cNvPicPr preferRelativeResize="0"/>
            <p:nvPr/>
          </p:nvPicPr>
          <p:blipFill>
            <a:blip r:embed="rId16">
              <a:alphaModFix/>
            </a:blip>
            <a:stretch>
              <a:fillRect/>
            </a:stretch>
          </p:blipFill>
          <p:spPr>
            <a:xfrm>
              <a:off x="5251400" y="161800"/>
              <a:ext cx="3874074" cy="5650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8" name="Google Shape;248;p47"/>
            <p:cNvPicPr preferRelativeResize="0"/>
            <p:nvPr/>
          </p:nvPicPr>
          <p:blipFill>
            <a:blip r:embed="rId17">
              <a:alphaModFix/>
            </a:blip>
            <a:stretch>
              <a:fillRect/>
            </a:stretch>
          </p:blipFill>
          <p:spPr>
            <a:xfrm>
              <a:off x="7302133" y="53652"/>
              <a:ext cx="1777675" cy="126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9" name="Google Shape;249;p47"/>
            <p:cNvSpPr txBox="1"/>
            <p:nvPr/>
          </p:nvSpPr>
          <p:spPr>
            <a:xfrm>
              <a:off x="6863200" y="-29400"/>
              <a:ext cx="3915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/>
                <a:t>[</a:t>
              </a:r>
              <a:r>
                <a:rPr lang="en" sz="700">
                  <a:solidFill>
                    <a:srgbClr val="0000FF"/>
                  </a:solidFill>
                  <a:uFill>
                    <a:noFill/>
                  </a:uFill>
                  <a:hlinkClick r:id="rId18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link</a:t>
              </a:r>
              <a:r>
                <a:rPr lang="en" sz="700"/>
                <a:t>]</a:t>
              </a:r>
              <a:endParaRPr sz="700"/>
            </a:p>
          </p:txBody>
        </p:sp>
      </p:grpSp>
      <p:pic>
        <p:nvPicPr>
          <p:cNvPr id="250" name="Google Shape;250;p47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5251400" y="890524"/>
            <a:ext cx="3663051" cy="1980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47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5281306" y="755618"/>
            <a:ext cx="3663048" cy="219325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2" name="Google Shape;252;p47"/>
          <p:cNvGrpSpPr/>
          <p:nvPr/>
        </p:nvGrpSpPr>
        <p:grpSpPr>
          <a:xfrm>
            <a:off x="5482050" y="2965252"/>
            <a:ext cx="3412768" cy="2235397"/>
            <a:chOff x="5482050" y="2965252"/>
            <a:chExt cx="3412768" cy="2235397"/>
          </a:xfrm>
        </p:grpSpPr>
        <p:pic>
          <p:nvPicPr>
            <p:cNvPr id="253" name="Google Shape;253;p47"/>
            <p:cNvPicPr preferRelativeResize="0"/>
            <p:nvPr/>
          </p:nvPicPr>
          <p:blipFill>
            <a:blip r:embed="rId21">
              <a:alphaModFix/>
            </a:blip>
            <a:stretch>
              <a:fillRect/>
            </a:stretch>
          </p:blipFill>
          <p:spPr>
            <a:xfrm>
              <a:off x="5482050" y="2965252"/>
              <a:ext cx="3412768" cy="20101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4" name="Google Shape;254;p47"/>
            <p:cNvSpPr txBox="1"/>
            <p:nvPr/>
          </p:nvSpPr>
          <p:spPr>
            <a:xfrm>
              <a:off x="5727569" y="4939049"/>
              <a:ext cx="30000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0"/>
                <a:t>Figure 4. Tumour location and anatomical neighbourhoods from the study UCSF-PDGM-0020.</a:t>
              </a:r>
              <a:endParaRPr sz="5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8"/>
          <p:cNvSpPr txBox="1"/>
          <p:nvPr/>
        </p:nvSpPr>
        <p:spPr>
          <a:xfrm>
            <a:off x="186235" y="2701"/>
            <a:ext cx="7732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Towards AI-driven personalized treatment planning of glioma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48"/>
          <p:cNvSpPr txBox="1"/>
          <p:nvPr/>
        </p:nvSpPr>
        <p:spPr>
          <a:xfrm>
            <a:off x="508875" y="4835700"/>
            <a:ext cx="8525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S. Khalighi et al. Artificial intelligence in neuro-oncology: Advances and challenges in brain tumor diagnosis, prognosis, and precision treatment, npj Precision Oncology 2024;8:80 [</a:t>
            </a:r>
            <a:r>
              <a:rPr lang="en" sz="800" b="0" i="0" u="none" strike="noStrike" cap="none">
                <a:solidFill>
                  <a:srgbClr val="0000FF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r>
              <a:rPr lang="en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sz="800" b="0" i="0" u="none" strike="noStrike" cap="non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48"/>
          <p:cNvSpPr txBox="1"/>
          <p:nvPr/>
        </p:nvSpPr>
        <p:spPr>
          <a:xfrm>
            <a:off x="191110" y="1154625"/>
            <a:ext cx="1830900" cy="1454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Precision segmentation</a:t>
            </a:r>
            <a:endParaRPr sz="11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- surgical resection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+ 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- radiation planning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(proton therapy)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2" name="Google Shape;262;p4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81200" y="547125"/>
            <a:ext cx="6598794" cy="4288575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48"/>
          <p:cNvSpPr/>
          <p:nvPr/>
        </p:nvSpPr>
        <p:spPr>
          <a:xfrm>
            <a:off x="3750225" y="2246650"/>
            <a:ext cx="818700" cy="74310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48"/>
          <p:cNvSpPr/>
          <p:nvPr/>
        </p:nvSpPr>
        <p:spPr>
          <a:xfrm>
            <a:off x="4664625" y="1941850"/>
            <a:ext cx="818700" cy="74310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48"/>
          <p:cNvSpPr/>
          <p:nvPr/>
        </p:nvSpPr>
        <p:spPr>
          <a:xfrm>
            <a:off x="3430200" y="3105850"/>
            <a:ext cx="1051500" cy="91710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48"/>
          <p:cNvSpPr/>
          <p:nvPr/>
        </p:nvSpPr>
        <p:spPr>
          <a:xfrm>
            <a:off x="6036225" y="2246650"/>
            <a:ext cx="872100" cy="74310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48"/>
          <p:cNvSpPr/>
          <p:nvPr/>
        </p:nvSpPr>
        <p:spPr>
          <a:xfrm>
            <a:off x="6112425" y="3198725"/>
            <a:ext cx="818700" cy="78150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8" name="Google Shape;268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08150" y="4562325"/>
            <a:ext cx="2033150" cy="27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9"/>
          <p:cNvSpPr/>
          <p:nvPr/>
        </p:nvSpPr>
        <p:spPr>
          <a:xfrm>
            <a:off x="171450" y="157163"/>
            <a:ext cx="8801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173E43"/>
                </a:solidFill>
                <a:latin typeface="Arial"/>
                <a:ea typeface="Arial"/>
                <a:cs typeface="Arial"/>
                <a:sym typeface="Arial"/>
              </a:rPr>
              <a:t>Our imaging foundation: compartments and anatomy</a:t>
            </a:r>
            <a:endParaRPr sz="1100"/>
          </a:p>
        </p:txBody>
      </p:sp>
      <p:pic>
        <p:nvPicPr>
          <p:cNvPr id="275" name="Google Shape;275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5775" y="721322"/>
            <a:ext cx="5772150" cy="3250799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49"/>
          <p:cNvSpPr/>
          <p:nvPr/>
        </p:nvSpPr>
        <p:spPr>
          <a:xfrm>
            <a:off x="860121" y="4228813"/>
            <a:ext cx="5278800" cy="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Lundervold et al. 2026, Fig. 1, CC BY 4.0. UCSF-PDGM-0085; reference-mask illustration</a:t>
            </a:r>
            <a:endParaRPr sz="1000"/>
          </a:p>
        </p:txBody>
      </p:sp>
      <p:sp>
        <p:nvSpPr>
          <p:cNvPr id="277" name="Google Shape;277;p49"/>
          <p:cNvSpPr/>
          <p:nvPr/>
        </p:nvSpPr>
        <p:spPr>
          <a:xfrm>
            <a:off x="7326419" y="4829175"/>
            <a:ext cx="1647300" cy="1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AI-assisted G</a:t>
            </a:r>
            <a:r>
              <a:rPr lang="en" sz="900">
                <a:latin typeface="Arial"/>
                <a:ea typeface="Arial"/>
                <a:cs typeface="Arial"/>
                <a:sym typeface="Arial"/>
              </a:rPr>
              <a:t>lioma </a:t>
            </a:r>
            <a:r>
              <a:rPr lang="en" sz="900"/>
              <a:t>R</a:t>
            </a:r>
            <a:r>
              <a:rPr lang="en" sz="900">
                <a:latin typeface="Arial"/>
                <a:ea typeface="Arial"/>
                <a:cs typeface="Arial"/>
                <a:sym typeface="Arial"/>
              </a:rPr>
              <a:t>esearch </a:t>
            </a:r>
            <a:endParaRPr sz="900"/>
          </a:p>
        </p:txBody>
      </p:sp>
      <p:grpSp>
        <p:nvGrpSpPr>
          <p:cNvPr id="278" name="Google Shape;278;p49"/>
          <p:cNvGrpSpPr/>
          <p:nvPr/>
        </p:nvGrpSpPr>
        <p:grpSpPr>
          <a:xfrm>
            <a:off x="214242" y="1185863"/>
            <a:ext cx="8821583" cy="3818856"/>
            <a:chOff x="214242" y="1185863"/>
            <a:chExt cx="8821583" cy="3818856"/>
          </a:xfrm>
        </p:grpSpPr>
        <p:sp>
          <p:nvSpPr>
            <p:cNvPr id="279" name="Google Shape;279;p49"/>
            <p:cNvSpPr/>
            <p:nvPr/>
          </p:nvSpPr>
          <p:spPr>
            <a:xfrm>
              <a:off x="6500813" y="1185863"/>
              <a:ext cx="2171700" cy="2714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173E43"/>
                  </a:solidFill>
                  <a:latin typeface="Arial"/>
                  <a:ea typeface="Arial"/>
                  <a:cs typeface="Arial"/>
                  <a:sym typeface="Arial"/>
                </a:rPr>
                <a:t>T1, T1c, T2, FLAIR</a:t>
              </a:r>
              <a:endParaRPr sz="1100"/>
            </a:p>
          </p:txBody>
        </p:sp>
        <p:sp>
          <p:nvSpPr>
            <p:cNvPr id="280" name="Google Shape;280;p49"/>
            <p:cNvSpPr/>
            <p:nvPr/>
          </p:nvSpPr>
          <p:spPr>
            <a:xfrm>
              <a:off x="6500813" y="1635919"/>
              <a:ext cx="2171700" cy="2857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>
                  <a:solidFill>
                    <a:srgbClr val="173E43"/>
                  </a:solidFill>
                  <a:latin typeface="Arial"/>
                  <a:ea typeface="Arial"/>
                  <a:cs typeface="Arial"/>
                  <a:sym typeface="Arial"/>
                </a:rPr>
                <a:t>Trained imaging AI</a:t>
              </a:r>
              <a:endParaRPr sz="1100"/>
            </a:p>
          </p:txBody>
        </p:sp>
        <p:sp>
          <p:nvSpPr>
            <p:cNvPr id="281" name="Google Shape;281;p49"/>
            <p:cNvSpPr/>
            <p:nvPr/>
          </p:nvSpPr>
          <p:spPr>
            <a:xfrm>
              <a:off x="6500813" y="1928813"/>
              <a:ext cx="2171700" cy="2857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173E43"/>
                  </a:solidFill>
                  <a:latin typeface="Arial"/>
                  <a:ea typeface="Arial"/>
                  <a:cs typeface="Arial"/>
                  <a:sym typeface="Arial"/>
                </a:rPr>
                <a:t>MONAI SegResNet</a:t>
              </a:r>
              <a:endParaRPr sz="1100"/>
            </a:p>
          </p:txBody>
        </p:sp>
        <p:sp>
          <p:nvSpPr>
            <p:cNvPr id="282" name="Google Shape;282;p49"/>
            <p:cNvSpPr/>
            <p:nvPr/>
          </p:nvSpPr>
          <p:spPr>
            <a:xfrm>
              <a:off x="6716116" y="2648837"/>
              <a:ext cx="656100" cy="90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173E43"/>
                  </a:solidFill>
                  <a:latin typeface="Arial"/>
                  <a:ea typeface="Arial"/>
                  <a:cs typeface="Arial"/>
                  <a:sym typeface="Arial"/>
                </a:rPr>
                <a:t>NCR</a:t>
              </a:r>
              <a:endParaRPr sz="1200">
                <a:solidFill>
                  <a:srgbClr val="173E43"/>
                </a:solidFill>
              </a:endParaRPr>
            </a:p>
            <a:p>
              <a:pPr marL="0" marR="0" lvl="0" indent="0" algn="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173E43"/>
                  </a:solidFill>
                  <a:latin typeface="Arial"/>
                  <a:ea typeface="Arial"/>
                  <a:cs typeface="Arial"/>
                  <a:sym typeface="Arial"/>
                </a:rPr>
                <a:t>ED</a:t>
              </a:r>
              <a:endParaRPr sz="1200">
                <a:solidFill>
                  <a:srgbClr val="173E43"/>
                </a:solidFill>
              </a:endParaRPr>
            </a:p>
            <a:p>
              <a:pPr marL="0" marR="0" lvl="0" indent="0" algn="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173E43"/>
                  </a:solidFill>
                  <a:latin typeface="Arial"/>
                  <a:ea typeface="Arial"/>
                  <a:cs typeface="Arial"/>
                  <a:sym typeface="Arial"/>
                </a:rPr>
                <a:t>ET</a:t>
              </a:r>
              <a:endParaRPr sz="1100"/>
            </a:p>
          </p:txBody>
        </p:sp>
        <p:sp>
          <p:nvSpPr>
            <p:cNvPr id="283" name="Google Shape;283;p49"/>
            <p:cNvSpPr/>
            <p:nvPr/>
          </p:nvSpPr>
          <p:spPr>
            <a:xfrm>
              <a:off x="6500813" y="3618281"/>
              <a:ext cx="2171700" cy="2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173E43"/>
                  </a:solidFill>
                  <a:latin typeface="Arial"/>
                  <a:ea typeface="Arial"/>
                  <a:cs typeface="Arial"/>
                  <a:sym typeface="Arial"/>
                </a:rPr>
                <a:t>FreeSurfer anatomy</a:t>
              </a:r>
              <a:endParaRPr sz="1100"/>
            </a:p>
          </p:txBody>
        </p:sp>
        <p:sp>
          <p:nvSpPr>
            <p:cNvPr id="284" name="Google Shape;284;p49"/>
            <p:cNvSpPr/>
            <p:nvPr/>
          </p:nvSpPr>
          <p:spPr>
            <a:xfrm>
              <a:off x="6500825" y="4215625"/>
              <a:ext cx="2535000" cy="29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173E43"/>
                  </a:solidFill>
                  <a:latin typeface="Arial"/>
                  <a:ea typeface="Arial"/>
                  <a:cs typeface="Arial"/>
                  <a:sym typeface="Arial"/>
                </a:rPr>
                <a:t>Regional overlap</a:t>
              </a:r>
              <a:r>
                <a:rPr lang="en" sz="1100"/>
                <a:t> </a:t>
              </a:r>
              <a:r>
                <a:rPr lang="en" sz="1500">
                  <a:solidFill>
                    <a:srgbClr val="173E43"/>
                  </a:solidFill>
                  <a:latin typeface="Arial"/>
                  <a:ea typeface="Arial"/>
                  <a:cs typeface="Arial"/>
                  <a:sym typeface="Arial"/>
                </a:rPr>
                <a:t>volumes</a:t>
              </a:r>
              <a:endParaRPr sz="1100"/>
            </a:p>
          </p:txBody>
        </p:sp>
        <p:sp>
          <p:nvSpPr>
            <p:cNvPr id="285" name="Google Shape;285;p49"/>
            <p:cNvSpPr/>
            <p:nvPr/>
          </p:nvSpPr>
          <p:spPr>
            <a:xfrm>
              <a:off x="214242" y="4776119"/>
              <a:ext cx="6205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/>
                <a:t> </a:t>
              </a:r>
              <a:r>
                <a:rPr lang="en" sz="1000" b="1"/>
                <a:t>Paper</a:t>
              </a:r>
              <a:r>
                <a:rPr lang="en" sz="1000"/>
                <a:t>:  </a:t>
              </a:r>
              <a:r>
                <a:rPr lang="en" sz="1000">
                  <a:solidFill>
                    <a:srgbClr val="0000FF"/>
                  </a:solidFill>
                  <a:uFill>
                    <a:noFill/>
                  </a:uFill>
                  <a:latin typeface="Arial"/>
                  <a:ea typeface="Arial"/>
                  <a:cs typeface="Arial"/>
                  <a:sym typeface="Arial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Published feasibility study</a:t>
              </a:r>
              <a:r>
                <a:rPr lang="en" sz="1000">
                  <a:solidFill>
                    <a:srgbClr val="31858F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lang="en" sz="1000">
                  <a:latin typeface="Arial"/>
                  <a:ea typeface="Arial"/>
                  <a:cs typeface="Arial"/>
                  <a:sym typeface="Arial"/>
                </a:rPr>
                <a:t>&amp;  </a:t>
              </a:r>
              <a:r>
                <a:rPr lang="en" sz="1000" b="1"/>
                <a:t>Code</a:t>
              </a:r>
              <a:r>
                <a:rPr lang="en" sz="1000">
                  <a:latin typeface="Arial"/>
                  <a:ea typeface="Arial"/>
                  <a:cs typeface="Arial"/>
                  <a:sym typeface="Arial"/>
                </a:rPr>
                <a:t>: </a:t>
              </a:r>
              <a:r>
                <a:rPr lang="en" sz="1000">
                  <a:solidFill>
                    <a:srgbClr val="0000FF"/>
                  </a:solidFill>
                  <a:uFill>
                    <a:noFill/>
                  </a:uFill>
                  <a:latin typeface="Arial"/>
                  <a:ea typeface="Arial"/>
                  <a:cs typeface="Arial"/>
                  <a:sym typeface="Arial"/>
                  <a:hlinkClick r:id="rId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https://github.com/arvidl/high-precision-glioma-segmentation</a:t>
              </a:r>
              <a:r>
                <a:rPr lang="en" sz="1000"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lang="en" sz="900"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lang="en" sz="1100">
                  <a:solidFill>
                    <a:srgbClr val="31858F"/>
                  </a:solidFill>
                  <a:latin typeface="Arial"/>
                  <a:ea typeface="Arial"/>
                  <a:cs typeface="Arial"/>
                  <a:sym typeface="Arial"/>
                </a:rPr>
                <a:t>   </a:t>
              </a:r>
              <a:endParaRPr sz="1100"/>
            </a:p>
          </p:txBody>
        </p:sp>
        <p:pic>
          <p:nvPicPr>
            <p:cNvPr id="286" name="Google Shape;286;p4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639625" y="2430362"/>
              <a:ext cx="1059000" cy="1040032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87" name="Google Shape;287;p49"/>
            <p:cNvCxnSpPr/>
            <p:nvPr/>
          </p:nvCxnSpPr>
          <p:spPr>
            <a:xfrm>
              <a:off x="7450375" y="2753125"/>
              <a:ext cx="795900" cy="156600"/>
            </a:xfrm>
            <a:prstGeom prst="straightConnector1">
              <a:avLst/>
            </a:prstGeom>
            <a:noFill/>
            <a:ln w="9525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88" name="Google Shape;288;p49"/>
            <p:cNvCxnSpPr/>
            <p:nvPr/>
          </p:nvCxnSpPr>
          <p:spPr>
            <a:xfrm>
              <a:off x="7420104" y="3016433"/>
              <a:ext cx="578400" cy="4200"/>
            </a:xfrm>
            <a:prstGeom prst="straightConnector1">
              <a:avLst/>
            </a:prstGeom>
            <a:noFill/>
            <a:ln w="9525" cap="flat" cmpd="sng">
              <a:solidFill>
                <a:srgbClr val="00FF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89" name="Google Shape;289;p49"/>
            <p:cNvCxnSpPr/>
            <p:nvPr/>
          </p:nvCxnSpPr>
          <p:spPr>
            <a:xfrm rot="10800000" flipH="1">
              <a:off x="7456900" y="3053100"/>
              <a:ext cx="691500" cy="241500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50"/>
          <p:cNvSpPr/>
          <p:nvPr/>
        </p:nvSpPr>
        <p:spPr>
          <a:xfrm>
            <a:off x="171450" y="157163"/>
            <a:ext cx="8801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173E43"/>
                </a:solidFill>
                <a:latin typeface="Arial"/>
                <a:ea typeface="Arial"/>
                <a:cs typeface="Arial"/>
                <a:sym typeface="Arial"/>
              </a:rPr>
              <a:t>Regional tumor burden - </a:t>
            </a:r>
            <a:r>
              <a:rPr lang="en" sz="2000" b="1">
                <a:solidFill>
                  <a:srgbClr val="173E43"/>
                </a:solidFill>
              </a:rPr>
              <a:t>the tumor-brain interface measured by mpMRI</a:t>
            </a:r>
            <a:endParaRPr sz="1100"/>
          </a:p>
        </p:txBody>
      </p:sp>
      <p:sp>
        <p:nvSpPr>
          <p:cNvPr id="296" name="Google Shape;296;p50"/>
          <p:cNvSpPr/>
          <p:nvPr/>
        </p:nvSpPr>
        <p:spPr>
          <a:xfrm>
            <a:off x="7326419" y="4829175"/>
            <a:ext cx="1647300" cy="1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AI-assisted G</a:t>
            </a:r>
            <a:r>
              <a:rPr lang="en" sz="900">
                <a:latin typeface="Arial"/>
                <a:ea typeface="Arial"/>
                <a:cs typeface="Arial"/>
                <a:sym typeface="Arial"/>
              </a:rPr>
              <a:t>lioma </a:t>
            </a:r>
            <a:r>
              <a:rPr lang="en" sz="900"/>
              <a:t>R</a:t>
            </a:r>
            <a:r>
              <a:rPr lang="en" sz="900">
                <a:latin typeface="Arial"/>
                <a:ea typeface="Arial"/>
                <a:cs typeface="Arial"/>
                <a:sym typeface="Arial"/>
              </a:rPr>
              <a:t>esearch </a:t>
            </a:r>
            <a:endParaRPr sz="900"/>
          </a:p>
        </p:txBody>
      </p:sp>
      <p:pic>
        <p:nvPicPr>
          <p:cNvPr id="297" name="Google Shape;297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6131" y="657225"/>
            <a:ext cx="5642484" cy="31718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8" name="Google Shape;298;p50"/>
          <p:cNvGrpSpPr/>
          <p:nvPr/>
        </p:nvGrpSpPr>
        <p:grpSpPr>
          <a:xfrm>
            <a:off x="6089638" y="640569"/>
            <a:ext cx="2251501" cy="728718"/>
            <a:chOff x="6089638" y="640569"/>
            <a:chExt cx="2251501" cy="728718"/>
          </a:xfrm>
        </p:grpSpPr>
        <p:sp>
          <p:nvSpPr>
            <p:cNvPr id="299" name="Google Shape;299;p50"/>
            <p:cNvSpPr/>
            <p:nvPr/>
          </p:nvSpPr>
          <p:spPr>
            <a:xfrm>
              <a:off x="6089638" y="640569"/>
              <a:ext cx="2171700" cy="2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>
                  <a:solidFill>
                    <a:srgbClr val="173E43"/>
                  </a:solidFill>
                </a:rPr>
                <a:t>Detect</a:t>
              </a:r>
              <a:r>
                <a:rPr lang="en" sz="1500" b="1">
                  <a:solidFill>
                    <a:srgbClr val="173E43"/>
                  </a:solidFill>
                  <a:latin typeface="Arial"/>
                  <a:ea typeface="Arial"/>
                  <a:cs typeface="Arial"/>
                  <a:sym typeface="Arial"/>
                </a:rPr>
                <a:t> abnormality</a:t>
              </a:r>
              <a:endParaRPr sz="1100"/>
            </a:p>
          </p:txBody>
        </p:sp>
        <p:sp>
          <p:nvSpPr>
            <p:cNvPr id="300" name="Google Shape;300;p50"/>
            <p:cNvSpPr/>
            <p:nvPr/>
          </p:nvSpPr>
          <p:spPr>
            <a:xfrm>
              <a:off x="6169439" y="912087"/>
              <a:ext cx="21717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173E43"/>
                  </a:solidFill>
                </a:rPr>
                <a:t>Tumor size and shape</a:t>
              </a:r>
              <a:endParaRPr sz="1500">
                <a:solidFill>
                  <a:srgbClr val="173E43"/>
                </a:solidFill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173E43"/>
                  </a:solidFill>
                </a:rPr>
                <a:t>Tumor c</a:t>
              </a:r>
              <a:r>
                <a:rPr lang="en" sz="1500">
                  <a:solidFill>
                    <a:srgbClr val="173E43"/>
                  </a:solidFill>
                  <a:latin typeface="Arial"/>
                  <a:ea typeface="Arial"/>
                  <a:cs typeface="Arial"/>
                  <a:sym typeface="Arial"/>
                </a:rPr>
                <a:t>ompartments</a:t>
              </a:r>
              <a:endParaRPr sz="1100"/>
            </a:p>
          </p:txBody>
        </p:sp>
      </p:grpSp>
      <p:grpSp>
        <p:nvGrpSpPr>
          <p:cNvPr id="301" name="Google Shape;301;p50"/>
          <p:cNvGrpSpPr/>
          <p:nvPr/>
        </p:nvGrpSpPr>
        <p:grpSpPr>
          <a:xfrm>
            <a:off x="6089640" y="1569035"/>
            <a:ext cx="2943773" cy="801165"/>
            <a:chOff x="6089640" y="1569035"/>
            <a:chExt cx="2943773" cy="801165"/>
          </a:xfrm>
        </p:grpSpPr>
        <p:sp>
          <p:nvSpPr>
            <p:cNvPr id="302" name="Google Shape;302;p50"/>
            <p:cNvSpPr/>
            <p:nvPr/>
          </p:nvSpPr>
          <p:spPr>
            <a:xfrm>
              <a:off x="6089640" y="1569035"/>
              <a:ext cx="2171700" cy="2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>
                  <a:solidFill>
                    <a:srgbClr val="173E43"/>
                  </a:solidFill>
                  <a:latin typeface="Arial"/>
                  <a:ea typeface="Arial"/>
                  <a:cs typeface="Arial"/>
                  <a:sym typeface="Arial"/>
                </a:rPr>
                <a:t>Describe anatomy</a:t>
              </a:r>
              <a:endParaRPr sz="1100"/>
            </a:p>
          </p:txBody>
        </p:sp>
        <p:sp>
          <p:nvSpPr>
            <p:cNvPr id="303" name="Google Shape;303;p50"/>
            <p:cNvSpPr/>
            <p:nvPr/>
          </p:nvSpPr>
          <p:spPr>
            <a:xfrm>
              <a:off x="6163313" y="1870100"/>
              <a:ext cx="2870100" cy="50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173E43"/>
                  </a:solidFill>
                </a:rPr>
                <a:t>Fine-grained brain parcellation</a:t>
              </a:r>
              <a:r>
                <a:rPr lang="en" sz="1500">
                  <a:solidFill>
                    <a:srgbClr val="173E43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" sz="1500">
                  <a:solidFill>
                    <a:srgbClr val="173E43"/>
                  </a:solidFill>
                </a:rPr>
                <a:t>Tumor location </a:t>
              </a:r>
              <a:r>
                <a:rPr lang="en" sz="1100">
                  <a:solidFill>
                    <a:srgbClr val="173E43"/>
                  </a:solidFill>
                </a:rPr>
                <a:t>&amp;</a:t>
              </a:r>
              <a:r>
                <a:rPr lang="en" sz="1500">
                  <a:solidFill>
                    <a:srgbClr val="173E43"/>
                  </a:solidFill>
                </a:rPr>
                <a:t> neighbourhood</a:t>
              </a:r>
              <a:endParaRPr sz="1100"/>
            </a:p>
          </p:txBody>
        </p:sp>
      </p:grpSp>
      <p:grpSp>
        <p:nvGrpSpPr>
          <p:cNvPr id="304" name="Google Shape;304;p50"/>
          <p:cNvGrpSpPr/>
          <p:nvPr/>
        </p:nvGrpSpPr>
        <p:grpSpPr>
          <a:xfrm>
            <a:off x="6120325" y="2645475"/>
            <a:ext cx="2962800" cy="1132774"/>
            <a:chOff x="6120325" y="2645475"/>
            <a:chExt cx="2962800" cy="1132774"/>
          </a:xfrm>
        </p:grpSpPr>
        <p:sp>
          <p:nvSpPr>
            <p:cNvPr id="305" name="Google Shape;305;p50"/>
            <p:cNvSpPr/>
            <p:nvPr/>
          </p:nvSpPr>
          <p:spPr>
            <a:xfrm>
              <a:off x="6120325" y="2645475"/>
              <a:ext cx="2962800" cy="30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>
                  <a:solidFill>
                    <a:srgbClr val="173E43"/>
                  </a:solidFill>
                  <a:latin typeface="Arial"/>
                  <a:ea typeface="Arial"/>
                  <a:cs typeface="Arial"/>
                  <a:sym typeface="Arial"/>
                </a:rPr>
                <a:t>Choose the next</a:t>
              </a:r>
              <a:r>
                <a:rPr lang="en" sz="1100"/>
                <a:t> </a:t>
              </a:r>
              <a:r>
                <a:rPr lang="en" sz="1500" b="1">
                  <a:solidFill>
                    <a:srgbClr val="173E43"/>
                  </a:solidFill>
                </a:rPr>
                <a:t>measurement</a:t>
              </a:r>
              <a:endParaRPr sz="1100"/>
            </a:p>
          </p:txBody>
        </p:sp>
        <p:sp>
          <p:nvSpPr>
            <p:cNvPr id="306" name="Google Shape;306;p50"/>
            <p:cNvSpPr/>
            <p:nvPr/>
          </p:nvSpPr>
          <p:spPr>
            <a:xfrm>
              <a:off x="6249200" y="2965849"/>
              <a:ext cx="2833800" cy="81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173E43"/>
                  </a:solidFill>
                </a:rPr>
                <a:t>Physiology</a:t>
              </a:r>
              <a:r>
                <a:rPr lang="en" sz="1500">
                  <a:solidFill>
                    <a:srgbClr val="173E43"/>
                  </a:solidFill>
                  <a:latin typeface="Arial"/>
                  <a:ea typeface="Arial"/>
                  <a:cs typeface="Arial"/>
                  <a:sym typeface="Arial"/>
                </a:rPr>
                <a:t>?  </a:t>
              </a:r>
              <a:r>
                <a:rPr lang="en" sz="1200">
                  <a:solidFill>
                    <a:srgbClr val="173E43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r>
                <a:rPr lang="en" sz="1200">
                  <a:solidFill>
                    <a:srgbClr val="173E43"/>
                  </a:solidFill>
                </a:rPr>
                <a:t>MRI, fMRI (BOLD), …</a:t>
              </a:r>
              <a:endParaRPr sz="800"/>
            </a:p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173E43"/>
                  </a:solidFill>
                  <a:latin typeface="Arial"/>
                  <a:ea typeface="Arial"/>
                  <a:cs typeface="Arial"/>
                  <a:sym typeface="Arial"/>
                </a:rPr>
                <a:t>Tissue sampling?</a:t>
              </a:r>
              <a:endParaRPr sz="1100"/>
            </a:p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173E43"/>
                  </a:solidFill>
                </a:rPr>
                <a:t>Cognition</a:t>
              </a:r>
              <a:r>
                <a:rPr lang="en" sz="1500">
                  <a:solidFill>
                    <a:srgbClr val="173E43"/>
                  </a:solidFill>
                  <a:latin typeface="Arial"/>
                  <a:ea typeface="Arial"/>
                  <a:cs typeface="Arial"/>
                  <a:sym typeface="Arial"/>
                </a:rPr>
                <a:t>?    </a:t>
              </a:r>
              <a:r>
                <a:rPr lang="en" sz="1100">
                  <a:solidFill>
                    <a:srgbClr val="173E43"/>
                  </a:solidFill>
                  <a:latin typeface="Arial"/>
                  <a:ea typeface="Arial"/>
                  <a:cs typeface="Arial"/>
                  <a:sym typeface="Arial"/>
                </a:rPr>
                <a:t>CANTAB, </a:t>
              </a:r>
              <a:r>
                <a:rPr lang="en" sz="1100">
                  <a:solidFill>
                    <a:srgbClr val="173E43"/>
                  </a:solidFill>
                </a:rPr>
                <a:t>…</a:t>
              </a:r>
              <a:endParaRPr sz="700"/>
            </a:p>
          </p:txBody>
        </p:sp>
      </p:grpSp>
      <p:sp>
        <p:nvSpPr>
          <p:cNvPr id="307" name="Google Shape;307;p50"/>
          <p:cNvSpPr/>
          <p:nvPr/>
        </p:nvSpPr>
        <p:spPr>
          <a:xfrm>
            <a:off x="514350" y="3950500"/>
            <a:ext cx="84582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rgbClr val="173E43"/>
                </a:solidFill>
                <a:latin typeface="Arial"/>
                <a:ea typeface="Arial"/>
                <a:cs typeface="Arial"/>
                <a:sym typeface="Arial"/>
              </a:rPr>
              <a:t>AI role:   </a:t>
            </a:r>
            <a:r>
              <a:rPr lang="en" sz="1200">
                <a:solidFill>
                  <a:srgbClr val="173E43"/>
                </a:solidFill>
              </a:rPr>
              <a:t>Automated brain segmentation, Tumor segmentation, Tumor c</a:t>
            </a:r>
            <a:r>
              <a:rPr lang="en" sz="1200">
                <a:solidFill>
                  <a:srgbClr val="173E43"/>
                </a:solidFill>
                <a:latin typeface="Arial"/>
                <a:ea typeface="Arial"/>
                <a:cs typeface="Arial"/>
                <a:sym typeface="Arial"/>
              </a:rPr>
              <a:t>ompartment labels, Coding and Visualization</a:t>
            </a:r>
            <a:r>
              <a:rPr lang="en" sz="1400">
                <a:solidFill>
                  <a:srgbClr val="173E4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/>
          </a:p>
        </p:txBody>
      </p:sp>
      <p:sp>
        <p:nvSpPr>
          <p:cNvPr id="308" name="Google Shape;308;p50"/>
          <p:cNvSpPr/>
          <p:nvPr/>
        </p:nvSpPr>
        <p:spPr>
          <a:xfrm>
            <a:off x="514350" y="4371975"/>
            <a:ext cx="8115300" cy="364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1858F"/>
                </a:solidFill>
                <a:latin typeface="Arial"/>
                <a:ea typeface="Arial"/>
                <a:cs typeface="Arial"/>
                <a:sym typeface="Arial"/>
              </a:rPr>
              <a:t>Published Fig. 4a–b, UCSF-PDGM-0020; Lundervold et al. 2026, CC BY 4.0.</a:t>
            </a:r>
            <a:endParaRPr sz="10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1858F"/>
                </a:solidFill>
                <a:latin typeface="Arial"/>
                <a:ea typeface="Arial"/>
                <a:cs typeface="Arial"/>
                <a:sym typeface="Arial"/>
              </a:rPr>
              <a:t>Anatomical labels and MRI compartments do not establish functional eloquence or cell programs.</a:t>
            </a:r>
            <a:endParaRPr sz="1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1"/>
          <p:cNvSpPr txBox="1"/>
          <p:nvPr/>
        </p:nvSpPr>
        <p:spPr>
          <a:xfrm>
            <a:off x="229550" y="0"/>
            <a:ext cx="4601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Tumor growth modelling   </a:t>
            </a:r>
            <a:r>
              <a:rPr lang="en" sz="1600"/>
              <a:t>(AI-assisted)</a:t>
            </a:r>
            <a:endParaRPr sz="1600"/>
          </a:p>
        </p:txBody>
      </p:sp>
      <p:pic>
        <p:nvPicPr>
          <p:cNvPr id="314" name="Google Shape;314;p51"/>
          <p:cNvPicPr preferRelativeResize="0"/>
          <p:nvPr/>
        </p:nvPicPr>
        <p:blipFill rotWithShape="1">
          <a:blip r:embed="rId3">
            <a:alphaModFix/>
          </a:blip>
          <a:srcRect t="23914"/>
          <a:stretch/>
        </p:blipFill>
        <p:spPr>
          <a:xfrm>
            <a:off x="152400" y="1847200"/>
            <a:ext cx="5418275" cy="30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25953" y="4878775"/>
            <a:ext cx="1672549" cy="2647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6" name="Google Shape;316;p51"/>
          <p:cNvGrpSpPr/>
          <p:nvPr/>
        </p:nvGrpSpPr>
        <p:grpSpPr>
          <a:xfrm>
            <a:off x="320100" y="390340"/>
            <a:ext cx="5250573" cy="1619885"/>
            <a:chOff x="320100" y="390340"/>
            <a:chExt cx="5250573" cy="1619885"/>
          </a:xfrm>
        </p:grpSpPr>
        <p:pic>
          <p:nvPicPr>
            <p:cNvPr id="317" name="Google Shape;317;p5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20100" y="437918"/>
              <a:ext cx="2320799" cy="1303200"/>
            </a:xfrm>
            <a:prstGeom prst="rect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318" name="Google Shape;318;p5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086372" y="390340"/>
              <a:ext cx="2484301" cy="1390147"/>
            </a:xfrm>
            <a:prstGeom prst="rect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pic>
        <p:cxnSp>
          <p:nvCxnSpPr>
            <p:cNvPr id="319" name="Google Shape;319;p51"/>
            <p:cNvCxnSpPr/>
            <p:nvPr/>
          </p:nvCxnSpPr>
          <p:spPr>
            <a:xfrm rot="10800000" flipH="1">
              <a:off x="1029850" y="1741125"/>
              <a:ext cx="91800" cy="269100"/>
            </a:xfrm>
            <a:prstGeom prst="straightConnector1">
              <a:avLst/>
            </a:prstGeom>
            <a:noFill/>
            <a:ln w="19050" cap="flat" cmpd="sng">
              <a:solidFill>
                <a:srgbClr val="B7B7B7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20" name="Google Shape;320;p51"/>
            <p:cNvCxnSpPr/>
            <p:nvPr/>
          </p:nvCxnSpPr>
          <p:spPr>
            <a:xfrm rot="10800000" flipH="1">
              <a:off x="1318475" y="1539425"/>
              <a:ext cx="1698900" cy="435000"/>
            </a:xfrm>
            <a:prstGeom prst="straightConnector1">
              <a:avLst/>
            </a:prstGeom>
            <a:noFill/>
            <a:ln w="19050" cap="flat" cmpd="sng">
              <a:solidFill>
                <a:srgbClr val="B7B7B7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321" name="Google Shape;321;p51"/>
          <p:cNvGrpSpPr/>
          <p:nvPr/>
        </p:nvGrpSpPr>
        <p:grpSpPr>
          <a:xfrm>
            <a:off x="5660868" y="263850"/>
            <a:ext cx="3391282" cy="949800"/>
            <a:chOff x="5660868" y="263850"/>
            <a:chExt cx="3391282" cy="949800"/>
          </a:xfrm>
        </p:grpSpPr>
        <p:pic>
          <p:nvPicPr>
            <p:cNvPr id="322" name="Google Shape;322;p51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5700225" y="390350"/>
              <a:ext cx="3351925" cy="823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3" name="Google Shape;323;p51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5660868" y="263850"/>
              <a:ext cx="1588600" cy="2691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24" name="Google Shape;324;p51" title="tumor_growth.gif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22250" y="3179825"/>
            <a:ext cx="3268524" cy="18385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5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823375" y="1213650"/>
            <a:ext cx="2663496" cy="183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5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570675" y="2100643"/>
            <a:ext cx="3573324" cy="2981857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51"/>
          <p:cNvSpPr txBox="1"/>
          <p:nvPr/>
        </p:nvSpPr>
        <p:spPr>
          <a:xfrm>
            <a:off x="229550" y="4856192"/>
            <a:ext cx="2403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0000FF"/>
                </a:solidFill>
                <a:uFill>
                  <a:noFill/>
                </a:uFill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https://github.com/arvidl/brainweb_fisher_kpp</a:t>
            </a:r>
            <a:endParaRPr sz="800">
              <a:solidFill>
                <a:srgbClr val="0000FF"/>
              </a:solidFill>
            </a:endParaRPr>
          </a:p>
        </p:txBody>
      </p:sp>
      <p:sp>
        <p:nvSpPr>
          <p:cNvPr id="328" name="Google Shape;328;p51"/>
          <p:cNvSpPr txBox="1"/>
          <p:nvPr/>
        </p:nvSpPr>
        <p:spPr>
          <a:xfrm>
            <a:off x="142100" y="1604792"/>
            <a:ext cx="8943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/>
              <a:t>Prompt:</a:t>
            </a:r>
            <a:endParaRPr sz="13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333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71444" y="4830925"/>
            <a:ext cx="1672549" cy="264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5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89575" y="54892"/>
            <a:ext cx="1588600" cy="269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52"/>
          <p:cNvSpPr txBox="1"/>
          <p:nvPr/>
        </p:nvSpPr>
        <p:spPr>
          <a:xfrm>
            <a:off x="229550" y="0"/>
            <a:ext cx="4601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CCCCCC"/>
                </a:solidFill>
              </a:rPr>
              <a:t>Tumor growth modelling   </a:t>
            </a:r>
            <a:r>
              <a:rPr lang="en" sz="1600">
                <a:solidFill>
                  <a:srgbClr val="CCCCCC"/>
                </a:solidFill>
              </a:rPr>
              <a:t>(AI-assisted)</a:t>
            </a:r>
            <a:endParaRPr sz="1600">
              <a:solidFill>
                <a:srgbClr val="CCCCCC"/>
              </a:solidFill>
            </a:endParaRPr>
          </a:p>
        </p:txBody>
      </p:sp>
      <p:pic>
        <p:nvPicPr>
          <p:cNvPr id="337" name="Google Shape;337;p5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80884" y="54900"/>
            <a:ext cx="2939702" cy="856326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38" name="Google Shape;338;p52"/>
          <p:cNvSpPr txBox="1"/>
          <p:nvPr/>
        </p:nvSpPr>
        <p:spPr>
          <a:xfrm>
            <a:off x="50008" y="653750"/>
            <a:ext cx="2403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0000FF"/>
                </a:solidFill>
                <a:uFill>
                  <a:noFill/>
                </a:u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https://github.com/arvidl/brainweb_fisher_kpp</a:t>
            </a:r>
            <a:endParaRPr sz="800">
              <a:solidFill>
                <a:srgbClr val="0000FF"/>
              </a:solidFill>
            </a:endParaRPr>
          </a:p>
        </p:txBody>
      </p:sp>
      <p:pic>
        <p:nvPicPr>
          <p:cNvPr id="2" name="tumor_growth.mp4">
            <a:hlinkClick r:id="" action="ppaction://media"/>
            <a:extLst>
              <a:ext uri="{FF2B5EF4-FFF2-40B4-BE49-F238E27FC236}">
                <a16:creationId xmlns:a16="http://schemas.microsoft.com/office/drawing/2014/main" id="{C82CF56B-39FF-5498-3B7C-E1FB3197A12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397991" y="961549"/>
            <a:ext cx="7103042" cy="39954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18CAA6E-F004-74A9-EBD0-80BC7858E777}"/>
              </a:ext>
            </a:extLst>
          </p:cNvPr>
          <p:cNvSpPr txBox="1"/>
          <p:nvPr/>
        </p:nvSpPr>
        <p:spPr>
          <a:xfrm>
            <a:off x="3649340" y="751722"/>
            <a:ext cx="829073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dirty="0"/>
              <a:t>tumor_growth.mp4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58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3" name="Google Shape;343;p53"/>
          <p:cNvGrpSpPr/>
          <p:nvPr/>
        </p:nvGrpSpPr>
        <p:grpSpPr>
          <a:xfrm>
            <a:off x="4762225" y="152400"/>
            <a:ext cx="4112824" cy="4124023"/>
            <a:chOff x="4762225" y="152400"/>
            <a:chExt cx="4112824" cy="4124023"/>
          </a:xfrm>
        </p:grpSpPr>
        <p:pic>
          <p:nvPicPr>
            <p:cNvPr id="344" name="Google Shape;344;p53" title="tumor_growth.gif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806225" y="152400"/>
              <a:ext cx="3976999" cy="22370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5" name="Google Shape;345;p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762225" y="3119850"/>
              <a:ext cx="4112824" cy="115657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6" name="Google Shape;346;p53"/>
          <p:cNvGrpSpPr/>
          <p:nvPr/>
        </p:nvGrpSpPr>
        <p:grpSpPr>
          <a:xfrm>
            <a:off x="471250" y="76200"/>
            <a:ext cx="8403799" cy="5105950"/>
            <a:chOff x="471250" y="76200"/>
            <a:chExt cx="8403799" cy="5105950"/>
          </a:xfrm>
        </p:grpSpPr>
        <p:grpSp>
          <p:nvGrpSpPr>
            <p:cNvPr id="347" name="Google Shape;347;p53"/>
            <p:cNvGrpSpPr/>
            <p:nvPr/>
          </p:nvGrpSpPr>
          <p:grpSpPr>
            <a:xfrm>
              <a:off x="471250" y="76200"/>
              <a:ext cx="4093225" cy="5105950"/>
              <a:chOff x="471250" y="76200"/>
              <a:chExt cx="4093225" cy="5105950"/>
            </a:xfrm>
          </p:grpSpPr>
          <p:pic>
            <p:nvPicPr>
              <p:cNvPr id="348" name="Google Shape;348;p53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471250" y="76200"/>
                <a:ext cx="3977000" cy="493892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9" name="Google Shape;349;p53"/>
              <p:cNvSpPr txBox="1"/>
              <p:nvPr/>
            </p:nvSpPr>
            <p:spPr>
              <a:xfrm>
                <a:off x="480875" y="4905250"/>
                <a:ext cx="4083600" cy="27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00">
                    <a:solidFill>
                      <a:srgbClr val="0000FF"/>
                    </a:solidFill>
                    <a:uFill>
                      <a:noFill/>
                    </a:uFill>
                    <a:hlinkClick r:id="rId6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A. Comba et al. Uncovering Spatiotemporal Heterogeneity of High-Grade Gliomas. Front Oncol 2021;11;703764</a:t>
                </a:r>
                <a:endParaRPr sz="1800">
                  <a:solidFill>
                    <a:srgbClr val="0000FF"/>
                  </a:solidFill>
                </a:endParaRPr>
              </a:p>
            </p:txBody>
          </p:sp>
        </p:grpSp>
        <p:grpSp>
          <p:nvGrpSpPr>
            <p:cNvPr id="350" name="Google Shape;350;p53"/>
            <p:cNvGrpSpPr/>
            <p:nvPr/>
          </p:nvGrpSpPr>
          <p:grpSpPr>
            <a:xfrm>
              <a:off x="4338025" y="2483525"/>
              <a:ext cx="4537024" cy="636325"/>
              <a:chOff x="4338025" y="2483525"/>
              <a:chExt cx="4537024" cy="636325"/>
            </a:xfrm>
          </p:grpSpPr>
          <p:pic>
            <p:nvPicPr>
              <p:cNvPr id="351" name="Google Shape;351;p53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4762225" y="2483525"/>
                <a:ext cx="4112824" cy="636325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352" name="Google Shape;352;p53"/>
              <p:cNvCxnSpPr>
                <a:stCxn id="351" idx="1"/>
              </p:cNvCxnSpPr>
              <p:nvPr/>
            </p:nvCxnSpPr>
            <p:spPr>
              <a:xfrm rot="10800000">
                <a:off x="4338025" y="2682887"/>
                <a:ext cx="424200" cy="1188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grpSp>
        <p:nvGrpSpPr>
          <p:cNvPr id="353" name="Google Shape;353;p53"/>
          <p:cNvGrpSpPr/>
          <p:nvPr/>
        </p:nvGrpSpPr>
        <p:grpSpPr>
          <a:xfrm>
            <a:off x="4173094" y="4246741"/>
            <a:ext cx="4610131" cy="831379"/>
            <a:chOff x="4173094" y="4246741"/>
            <a:chExt cx="4610131" cy="831379"/>
          </a:xfrm>
        </p:grpSpPr>
        <p:pic>
          <p:nvPicPr>
            <p:cNvPr id="354" name="Google Shape;354;p53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4840950" y="4276425"/>
              <a:ext cx="3942275" cy="80169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5" name="Google Shape;355;p53"/>
            <p:cNvSpPr txBox="1"/>
            <p:nvPr/>
          </p:nvSpPr>
          <p:spPr>
            <a:xfrm>
              <a:off x="4173094" y="4246741"/>
              <a:ext cx="729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/>
                <a:t>Follow-up</a:t>
              </a:r>
              <a:endParaRPr sz="900"/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/>
                <a:t>prompt:</a:t>
              </a:r>
              <a:endParaRPr sz="9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0" name="Google Shape;360;p54"/>
          <p:cNvGrpSpPr/>
          <p:nvPr/>
        </p:nvGrpSpPr>
        <p:grpSpPr>
          <a:xfrm>
            <a:off x="277775" y="347675"/>
            <a:ext cx="8831526" cy="3461476"/>
            <a:chOff x="152400" y="347675"/>
            <a:chExt cx="8831526" cy="3461476"/>
          </a:xfrm>
        </p:grpSpPr>
        <p:pic>
          <p:nvPicPr>
            <p:cNvPr id="361" name="Google Shape;361;p5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2400" y="2209775"/>
              <a:ext cx="3926248" cy="649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2" name="Google Shape;362;p54" title="comparison.gif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368625" y="347675"/>
              <a:ext cx="4615301" cy="346147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63" name="Google Shape;363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4594100"/>
            <a:ext cx="1789224" cy="230425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54"/>
          <p:cNvSpPr txBox="1"/>
          <p:nvPr/>
        </p:nvSpPr>
        <p:spPr>
          <a:xfrm>
            <a:off x="65600" y="4824525"/>
            <a:ext cx="2282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0000FF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https://github.com/arvidl/brainweb_fisher_kpp</a:t>
            </a:r>
            <a:endParaRPr sz="800">
              <a:solidFill>
                <a:srgbClr val="0000FF"/>
              </a:solidFill>
            </a:endParaRPr>
          </a:p>
        </p:txBody>
      </p:sp>
      <p:grpSp>
        <p:nvGrpSpPr>
          <p:cNvPr id="365" name="Google Shape;365;p54"/>
          <p:cNvGrpSpPr/>
          <p:nvPr/>
        </p:nvGrpSpPr>
        <p:grpSpPr>
          <a:xfrm>
            <a:off x="152400" y="41775"/>
            <a:ext cx="3934201" cy="1229250"/>
            <a:chOff x="152400" y="41775"/>
            <a:chExt cx="3934201" cy="1229250"/>
          </a:xfrm>
        </p:grpSpPr>
        <p:pic>
          <p:nvPicPr>
            <p:cNvPr id="366" name="Google Shape;366;p54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52400" y="296700"/>
              <a:ext cx="3934201" cy="974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7" name="Google Shape;367;p54"/>
            <p:cNvSpPr txBox="1"/>
            <p:nvPr/>
          </p:nvSpPr>
          <p:spPr>
            <a:xfrm>
              <a:off x="450650" y="41775"/>
              <a:ext cx="17892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/>
                <a:t>3D implementation</a:t>
              </a:r>
              <a:endParaRPr sz="1500"/>
            </a:p>
          </p:txBody>
        </p:sp>
      </p:grpSp>
      <p:grpSp>
        <p:nvGrpSpPr>
          <p:cNvPr id="368" name="Google Shape;368;p54"/>
          <p:cNvGrpSpPr/>
          <p:nvPr/>
        </p:nvGrpSpPr>
        <p:grpSpPr>
          <a:xfrm>
            <a:off x="106483" y="1238975"/>
            <a:ext cx="4032301" cy="893625"/>
            <a:chOff x="106483" y="1238975"/>
            <a:chExt cx="4032301" cy="893625"/>
          </a:xfrm>
        </p:grpSpPr>
        <p:pic>
          <p:nvPicPr>
            <p:cNvPr id="369" name="Google Shape;369;p54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06483" y="1483200"/>
              <a:ext cx="4032301" cy="649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0" name="Google Shape;370;p54"/>
            <p:cNvSpPr txBox="1"/>
            <p:nvPr/>
          </p:nvSpPr>
          <p:spPr>
            <a:xfrm>
              <a:off x="770924" y="1238975"/>
              <a:ext cx="15045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/>
                <a:t>visualisation</a:t>
              </a:r>
              <a:endParaRPr sz="1500"/>
            </a:p>
          </p:txBody>
        </p:sp>
      </p:grpSp>
      <p:grpSp>
        <p:nvGrpSpPr>
          <p:cNvPr id="371" name="Google Shape;371;p54"/>
          <p:cNvGrpSpPr/>
          <p:nvPr/>
        </p:nvGrpSpPr>
        <p:grpSpPr>
          <a:xfrm>
            <a:off x="311275" y="76280"/>
            <a:ext cx="8708947" cy="4990925"/>
            <a:chOff x="319633" y="76280"/>
            <a:chExt cx="8708947" cy="4990925"/>
          </a:xfrm>
        </p:grpSpPr>
        <p:pic>
          <p:nvPicPr>
            <p:cNvPr id="372" name="Google Shape;372;p54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319633" y="3294000"/>
              <a:ext cx="2238000" cy="441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3" name="Google Shape;373;p54" title="comparison_poster.png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2373980" y="76280"/>
              <a:ext cx="6654600" cy="49909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5"/>
          <p:cNvSpPr txBox="1"/>
          <p:nvPr/>
        </p:nvSpPr>
        <p:spPr>
          <a:xfrm>
            <a:off x="360775" y="1874991"/>
            <a:ext cx="8599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i="1"/>
              <a:t>From detailed imaging and diffusion-reaction modeling of tumor growth in 3D+time</a:t>
            </a:r>
            <a:endParaRPr sz="1800" i="1"/>
          </a:p>
        </p:txBody>
      </p:sp>
      <p:sp>
        <p:nvSpPr>
          <p:cNvPr id="379" name="Google Shape;379;p55"/>
          <p:cNvSpPr txBox="1"/>
          <p:nvPr/>
        </p:nvSpPr>
        <p:spPr>
          <a:xfrm>
            <a:off x="80446" y="0"/>
            <a:ext cx="1198800" cy="18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" b="1"/>
              <a:t>  sub-PAT16</a:t>
            </a:r>
            <a:endParaRPr sz="200" b="1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"/>
              <a:t>  └── </a:t>
            </a:r>
            <a:r>
              <a:rPr lang="en" sz="200" b="1"/>
              <a:t>ses-preop</a:t>
            </a:r>
            <a:endParaRPr sz="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"/>
              <a:t>          ├── anat</a:t>
            </a:r>
            <a:endParaRPr sz="2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"/>
              <a:t>          │      ├── sub-PAT16_ses-preop_T1w.json</a:t>
            </a:r>
            <a:endParaRPr sz="2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"/>
              <a:t>          │      └── sub-PAT16_ses-preop_T1w.nii.gz</a:t>
            </a:r>
            <a:endParaRPr sz="2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"/>
              <a:t>          ├── dwi</a:t>
            </a:r>
            <a:endParaRPr sz="2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"/>
              <a:t>          │       ├── sub-PAT16_ses-preop_acq-AP_dwi.bval</a:t>
            </a:r>
            <a:endParaRPr sz="2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"/>
              <a:t>          │       ├── sub-PAT16_ses-preop_acq-AP_dwi.bvec</a:t>
            </a:r>
            <a:endParaRPr sz="2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"/>
              <a:t>          │       ├── sub-PAT16_ses-preop_acq-AP_dwi.json</a:t>
            </a:r>
            <a:endParaRPr sz="2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"/>
              <a:t>          │       ├── sub-PAT16_ses-preop_acq-AP_dwi.nii.gz</a:t>
            </a:r>
            <a:endParaRPr sz="2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"/>
              <a:t>          │       ├── sub-PAT16_ses-preop_acq-PA_dwi.bval</a:t>
            </a:r>
            <a:endParaRPr sz="2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"/>
              <a:t>          │       ├── sub-PAT16_ses-preop_acq-PA_dwi.bvec</a:t>
            </a:r>
            <a:endParaRPr sz="2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"/>
              <a:t>          │       ├── sub-PAT16_ses-preop_acq-PA_dwi.json</a:t>
            </a:r>
            <a:endParaRPr sz="2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"/>
              <a:t>          │       └── sub-PAT16_ses-preop_acq-PA_dwi.nii.gz</a:t>
            </a:r>
            <a:endParaRPr sz="2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"/>
              <a:t>         └── func</a:t>
            </a:r>
            <a:endParaRPr sz="2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"/>
              <a:t>                 ├── sub-PAT16_ses-preop_task-rest_bold.json</a:t>
            </a:r>
            <a:endParaRPr sz="2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"/>
              <a:t>                 └── sub-PAT16_ses-preop_task-rest_bold.nii.gz</a:t>
            </a:r>
            <a:endParaRPr sz="2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"/>
              <a:t>  └── </a:t>
            </a:r>
            <a:r>
              <a:rPr lang="en" sz="200" b="1"/>
              <a:t>ses-postop</a:t>
            </a:r>
            <a:endParaRPr sz="200" b="1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"/>
              <a:t>          ├── anat</a:t>
            </a:r>
            <a:endParaRPr sz="2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"/>
              <a:t>          │      ├── sub-PAT16_ses-postop_T1w.json</a:t>
            </a:r>
            <a:endParaRPr sz="2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"/>
              <a:t>          │      └── sub-PAT16_ses-postop_T1w.nii.gz</a:t>
            </a:r>
            <a:endParaRPr sz="2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"/>
              <a:t>          ├── dwi</a:t>
            </a:r>
            <a:endParaRPr sz="2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"/>
              <a:t>          │      ├── sub-PAT16_ses-postop_acq-AP_dwi.bval</a:t>
            </a:r>
            <a:endParaRPr sz="2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"/>
              <a:t>          │      ├── sub-PAT16_ses-postop_acq-AP_dwi.bvec</a:t>
            </a:r>
            <a:endParaRPr sz="2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"/>
              <a:t>          │      ├── sub-PAT16_ses-postop_acq-AP_dwi.json</a:t>
            </a:r>
            <a:endParaRPr sz="2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"/>
              <a:t>          │      ├── sub-PAT16_ses-postop_acq-AP_dwi.nii.gz</a:t>
            </a:r>
            <a:endParaRPr sz="2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"/>
              <a:t>          │      ├── sub-PAT16_ses-postop_acq-PA_dwi.bval</a:t>
            </a:r>
            <a:endParaRPr sz="2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"/>
              <a:t>          │      ├── sub-PAT16_ses-postop_acq-PA_dwi.bvec</a:t>
            </a:r>
            <a:endParaRPr sz="2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"/>
              <a:t>          │      ├── sub-PAT16_ses-postop_acq-PA_dwi.json</a:t>
            </a:r>
            <a:endParaRPr sz="2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"/>
              <a:t>          │      └── sub-PAT16_ses-postop_acq-PA_dwi.nii.gz</a:t>
            </a:r>
            <a:endParaRPr sz="2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"/>
              <a:t>          └── func</a:t>
            </a:r>
            <a:endParaRPr sz="2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"/>
              <a:t>                  ├── sub-PAT16_ses-postop_task-rest_bold.json</a:t>
            </a:r>
            <a:endParaRPr sz="2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"/>
              <a:t>                  └── sub-PAT16_ses-postop_task-rest_bold.nii.gz </a:t>
            </a:r>
            <a:endParaRPr sz="200"/>
          </a:p>
        </p:txBody>
      </p:sp>
      <p:pic>
        <p:nvPicPr>
          <p:cNvPr id="380" name="Google Shape;380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5143" y="90550"/>
            <a:ext cx="1347950" cy="167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55" title="comparison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93526" y="110228"/>
            <a:ext cx="2151552" cy="161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16913" y="80525"/>
            <a:ext cx="2564024" cy="171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5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80937" y="696090"/>
            <a:ext cx="1590674" cy="4894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4" name="Google Shape;384;p55"/>
          <p:cNvGrpSpPr/>
          <p:nvPr/>
        </p:nvGrpSpPr>
        <p:grpSpPr>
          <a:xfrm>
            <a:off x="252778" y="2336691"/>
            <a:ext cx="8815651" cy="2782262"/>
            <a:chOff x="252778" y="2336691"/>
            <a:chExt cx="8815651" cy="2782262"/>
          </a:xfrm>
        </p:grpSpPr>
        <p:cxnSp>
          <p:nvCxnSpPr>
            <p:cNvPr id="385" name="Google Shape;385;p55"/>
            <p:cNvCxnSpPr>
              <a:stCxn id="378" idx="2"/>
              <a:endCxn id="386" idx="0"/>
            </p:cNvCxnSpPr>
            <p:nvPr/>
          </p:nvCxnSpPr>
          <p:spPr>
            <a:xfrm>
              <a:off x="4660525" y="2336691"/>
              <a:ext cx="8100" cy="7092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86" name="Google Shape;386;p55"/>
            <p:cNvSpPr txBox="1"/>
            <p:nvPr/>
          </p:nvSpPr>
          <p:spPr>
            <a:xfrm>
              <a:off x="368861" y="3045799"/>
              <a:ext cx="8599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i="1"/>
                <a:t>A more “holistic” approach to structural and functional connectivity and cognition</a:t>
              </a:r>
              <a:r>
                <a:rPr lang="en" sz="1800"/>
                <a:t> </a:t>
              </a:r>
              <a:endParaRPr sz="1800"/>
            </a:p>
          </p:txBody>
        </p:sp>
        <p:pic>
          <p:nvPicPr>
            <p:cNvPr id="387" name="Google Shape;387;p55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252778" y="3657225"/>
              <a:ext cx="2015474" cy="1360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8" name="Google Shape;388;p55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2350746" y="3657225"/>
              <a:ext cx="2680143" cy="13600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9" name="Google Shape;389;p55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012475" y="3712950"/>
              <a:ext cx="2204525" cy="1240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0" name="Google Shape;390;p55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7278379" y="3584929"/>
              <a:ext cx="1779702" cy="8220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1" name="Google Shape;391;p55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7312950" y="4439227"/>
              <a:ext cx="1755479" cy="67972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56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175" y="339500"/>
            <a:ext cx="6394524" cy="16745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56"/>
          <p:cNvSpPr txBox="1"/>
          <p:nvPr/>
        </p:nvSpPr>
        <p:spPr>
          <a:xfrm>
            <a:off x="5351400" y="90879"/>
            <a:ext cx="1104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[ on </a:t>
            </a:r>
            <a:r>
              <a:rPr lang="en" sz="1000" b="1">
                <a:solidFill>
                  <a:srgbClr val="0000FF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r>
              <a:rPr lang="en" sz="1000">
                <a:solidFill>
                  <a:schemeClr val="dk2"/>
                </a:solidFill>
              </a:rPr>
              <a:t> ]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3" name="Google Shape;403;p57" descr="Beautify this slide (include both left and right panel, and the header (GLIOMA BRAIN DIGITAL TWIN PROJECT), and draw some conclusions. Background should be light, text should be black.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3550" y="3728125"/>
            <a:ext cx="8464549" cy="1208350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57"/>
          <p:cNvSpPr txBox="1"/>
          <p:nvPr/>
        </p:nvSpPr>
        <p:spPr>
          <a:xfrm>
            <a:off x="333550" y="3789925"/>
            <a:ext cx="8560200" cy="11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</a:rPr>
              <a:t>Motor Function Declined:</a:t>
            </a:r>
            <a:r>
              <a:rPr lang="en" sz="1100">
                <a:solidFill>
                  <a:schemeClr val="dk1"/>
                </a:solidFill>
              </a:rPr>
              <a:t>  Motor response speed (MOT latency) slowed post-surgery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</a:rPr>
              <a:t>Processing Speed &amp; Attention Improved:</a:t>
            </a:r>
            <a:r>
              <a:rPr lang="en" sz="1100">
                <a:solidFill>
                  <a:schemeClr val="dk1"/>
                </a:solidFill>
              </a:rPr>
              <a:t>  Significant improvements were observed in simple and complex reaction times (RTI)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</a:rPr>
              <a:t>Working Memory Increased:</a:t>
            </a:r>
            <a:r>
              <a:rPr lang="en" sz="1100">
                <a:solidFill>
                  <a:schemeClr val="dk1"/>
                </a:solidFill>
              </a:rPr>
              <a:t>  Spatial span length (SSP) showed a substantial postoperative increase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</a:rPr>
              <a:t>Sustained Attention &amp; Executive Function Stable:</a:t>
            </a:r>
            <a:r>
              <a:rPr lang="en" sz="1100">
                <a:solidFill>
                  <a:schemeClr val="dk1"/>
                </a:solidFill>
              </a:rPr>
              <a:t>  Performance on RVP A' and SOC remained largely unchanged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</a:rPr>
              <a:t>Overall:</a:t>
            </a:r>
            <a:r>
              <a:rPr lang="en" sz="1100">
                <a:solidFill>
                  <a:schemeClr val="dk1"/>
                </a:solidFill>
              </a:rPr>
              <a:t>  The patient exhibited a mixed cognitive outcome, with notable gains in speed and memory capabilities despite a motor deficit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406" name="Google Shape;406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80675" y="137025"/>
            <a:ext cx="4813075" cy="38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5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2275" y="374300"/>
            <a:ext cx="130452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57"/>
          <p:cNvSpPr txBox="1"/>
          <p:nvPr/>
        </p:nvSpPr>
        <p:spPr>
          <a:xfrm>
            <a:off x="5351400" y="90879"/>
            <a:ext cx="1104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[ on </a:t>
            </a:r>
            <a:r>
              <a:rPr lang="en" sz="1000" b="1">
                <a:solidFill>
                  <a:srgbClr val="0000FF"/>
                </a:solidFill>
                <a:uFill>
                  <a:noFill/>
                </a:u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r>
              <a:rPr lang="en" sz="1000">
                <a:solidFill>
                  <a:schemeClr val="dk2"/>
                </a:solidFill>
              </a:rPr>
              <a:t> ]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409" name="Google Shape;409;p57"/>
          <p:cNvSpPr txBox="1"/>
          <p:nvPr/>
        </p:nvSpPr>
        <p:spPr>
          <a:xfrm rot="1057525">
            <a:off x="7823866" y="207275"/>
            <a:ext cx="1235499" cy="49260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FFFFFF"/>
                </a:highlight>
              </a:rPr>
              <a:t>Brain - Behaviour </a:t>
            </a:r>
            <a:endParaRPr sz="1000"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FFFFFF"/>
                </a:highlight>
              </a:rPr>
              <a:t>  relationships</a:t>
            </a:r>
            <a:endParaRPr sz="1000">
              <a:highlight>
                <a:srgbClr val="FFFFFF"/>
              </a:highligh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4" name="Google Shape;414;p58" descr="Beautify this slide"/>
          <p:cNvPicPr preferRelativeResize="0"/>
          <p:nvPr/>
        </p:nvPicPr>
        <p:blipFill rotWithShape="1">
          <a:blip r:embed="rId3">
            <a:alphaModFix/>
          </a:blip>
          <a:srcRect b="47900"/>
          <a:stretch/>
        </p:blipFill>
        <p:spPr>
          <a:xfrm>
            <a:off x="-35700" y="0"/>
            <a:ext cx="9210675" cy="26798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5" name="Google Shape;415;p58"/>
          <p:cNvGrpSpPr/>
          <p:nvPr/>
        </p:nvGrpSpPr>
        <p:grpSpPr>
          <a:xfrm>
            <a:off x="4749989" y="3665516"/>
            <a:ext cx="4334915" cy="764875"/>
            <a:chOff x="4749989" y="4448068"/>
            <a:chExt cx="4334915" cy="764875"/>
          </a:xfrm>
        </p:grpSpPr>
        <p:sp>
          <p:nvSpPr>
            <p:cNvPr id="416" name="Google Shape;416;p58"/>
            <p:cNvSpPr txBox="1"/>
            <p:nvPr/>
          </p:nvSpPr>
          <p:spPr>
            <a:xfrm>
              <a:off x="4749989" y="4448068"/>
              <a:ext cx="18828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 u="sng">
                  <a:solidFill>
                    <a:schemeClr val="hlink"/>
                  </a:solidFill>
                  <a:hlinkClick r:id="rId4"/>
                </a:rPr>
                <a:t>https://link.aps.org/doi/10.1103/d4tm-92vb</a:t>
              </a:r>
              <a:r>
                <a:rPr lang="en" sz="700"/>
                <a:t> </a:t>
              </a:r>
              <a:endParaRPr sz="700"/>
            </a:p>
          </p:txBody>
        </p:sp>
        <p:sp>
          <p:nvSpPr>
            <p:cNvPr id="417" name="Google Shape;417;p58"/>
            <p:cNvSpPr txBox="1"/>
            <p:nvPr/>
          </p:nvSpPr>
          <p:spPr>
            <a:xfrm>
              <a:off x="6744005" y="4617600"/>
              <a:ext cx="23409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 u="sng">
                  <a:solidFill>
                    <a:schemeClr val="hlink"/>
                  </a:solidFill>
                  <a:hlinkClick r:id="rId5"/>
                </a:rPr>
                <a:t>https://www.pnas.org/doi/10.1073/pnas.1517384113</a:t>
              </a:r>
              <a:r>
                <a:rPr lang="en" sz="700"/>
                <a:t> </a:t>
              </a:r>
              <a:endParaRPr sz="700"/>
            </a:p>
          </p:txBody>
        </p:sp>
        <p:sp>
          <p:nvSpPr>
            <p:cNvPr id="418" name="Google Shape;418;p58"/>
            <p:cNvSpPr txBox="1"/>
            <p:nvPr/>
          </p:nvSpPr>
          <p:spPr>
            <a:xfrm>
              <a:off x="4901986" y="4763443"/>
              <a:ext cx="21255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 u="sng">
                  <a:solidFill>
                    <a:schemeClr val="hlink"/>
                  </a:solidFill>
                  <a:hlinkClick r:id="rId6"/>
                </a:rPr>
                <a:t>https://doi.org/10.1186/s40708-025-00283-w</a:t>
              </a:r>
              <a:r>
                <a:rPr lang="en" sz="700"/>
                <a:t> </a:t>
              </a:r>
              <a:endParaRPr sz="700"/>
            </a:p>
          </p:txBody>
        </p:sp>
        <p:sp>
          <p:nvSpPr>
            <p:cNvPr id="419" name="Google Shape;419;p58"/>
            <p:cNvSpPr txBox="1"/>
            <p:nvPr/>
          </p:nvSpPr>
          <p:spPr>
            <a:xfrm>
              <a:off x="6123751" y="4920443"/>
              <a:ext cx="1790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 u="sng">
                  <a:solidFill>
                    <a:schemeClr val="hlink"/>
                  </a:solidFill>
                  <a:hlinkClick r:id="rId7"/>
                </a:rPr>
                <a:t>https://doi.org/10.1093/bib/bbaf722</a:t>
              </a:r>
              <a:r>
                <a:rPr lang="en" sz="700"/>
                <a:t> </a:t>
              </a:r>
              <a:endParaRPr sz="700"/>
            </a:p>
          </p:txBody>
        </p:sp>
      </p:grpSp>
      <p:pic>
        <p:nvPicPr>
          <p:cNvPr id="420" name="Google Shape;420;p5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25275" y="2956525"/>
            <a:ext cx="8702925" cy="153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5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72550" y="2888350"/>
            <a:ext cx="8866325" cy="164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5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63500" y="2888356"/>
            <a:ext cx="1594615" cy="1502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58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011973" y="2895006"/>
            <a:ext cx="1594626" cy="1488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58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760450" y="2895006"/>
            <a:ext cx="1594624" cy="1484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58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495550" y="2895006"/>
            <a:ext cx="1594625" cy="1490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58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7244895" y="2904081"/>
            <a:ext cx="1588165" cy="14846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7" name="Google Shape;427;p58"/>
          <p:cNvGrpSpPr/>
          <p:nvPr/>
        </p:nvGrpSpPr>
        <p:grpSpPr>
          <a:xfrm>
            <a:off x="994675" y="4425393"/>
            <a:ext cx="8093826" cy="716532"/>
            <a:chOff x="994675" y="4425393"/>
            <a:chExt cx="8093826" cy="716532"/>
          </a:xfrm>
        </p:grpSpPr>
        <p:pic>
          <p:nvPicPr>
            <p:cNvPr id="428" name="Google Shape;428;p58"/>
            <p:cNvPicPr preferRelativeResize="0"/>
            <p:nvPr/>
          </p:nvPicPr>
          <p:blipFill>
            <a:blip r:embed="rId15">
              <a:alphaModFix/>
            </a:blip>
            <a:stretch>
              <a:fillRect/>
            </a:stretch>
          </p:blipFill>
          <p:spPr>
            <a:xfrm>
              <a:off x="5355075" y="4492900"/>
              <a:ext cx="1919450" cy="150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9" name="Google Shape;429;p58"/>
            <p:cNvPicPr preferRelativeResize="0"/>
            <p:nvPr/>
          </p:nvPicPr>
          <p:blipFill>
            <a:blip r:embed="rId16">
              <a:alphaModFix/>
            </a:blip>
            <a:stretch>
              <a:fillRect/>
            </a:stretch>
          </p:blipFill>
          <p:spPr>
            <a:xfrm>
              <a:off x="5356427" y="4470025"/>
              <a:ext cx="1861725" cy="150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0" name="Google Shape;430;p58"/>
            <p:cNvPicPr preferRelativeResize="0"/>
            <p:nvPr/>
          </p:nvPicPr>
          <p:blipFill>
            <a:blip r:embed="rId17">
              <a:alphaModFix/>
            </a:blip>
            <a:stretch>
              <a:fillRect/>
            </a:stretch>
          </p:blipFill>
          <p:spPr>
            <a:xfrm>
              <a:off x="4756550" y="4494000"/>
              <a:ext cx="1790700" cy="177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1" name="Google Shape;431;p58"/>
            <p:cNvPicPr preferRelativeResize="0"/>
            <p:nvPr/>
          </p:nvPicPr>
          <p:blipFill>
            <a:blip r:embed="rId18">
              <a:alphaModFix/>
            </a:blip>
            <a:stretch>
              <a:fillRect/>
            </a:stretch>
          </p:blipFill>
          <p:spPr>
            <a:xfrm>
              <a:off x="4941341" y="4854213"/>
              <a:ext cx="2276800" cy="150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2" name="Google Shape;432;p58"/>
            <p:cNvPicPr preferRelativeResize="0"/>
            <p:nvPr/>
          </p:nvPicPr>
          <p:blipFill>
            <a:blip r:embed="rId18">
              <a:alphaModFix/>
            </a:blip>
            <a:stretch>
              <a:fillRect/>
            </a:stretch>
          </p:blipFill>
          <p:spPr>
            <a:xfrm>
              <a:off x="6169675" y="4978225"/>
              <a:ext cx="1735825" cy="150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3" name="Google Shape;433;p58"/>
            <p:cNvPicPr preferRelativeResize="0"/>
            <p:nvPr/>
          </p:nvPicPr>
          <p:blipFill>
            <a:blip r:embed="rId19">
              <a:alphaModFix/>
            </a:blip>
            <a:stretch>
              <a:fillRect/>
            </a:stretch>
          </p:blipFill>
          <p:spPr>
            <a:xfrm>
              <a:off x="994675" y="4494000"/>
              <a:ext cx="6185450" cy="562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4" name="Google Shape;434;p58"/>
            <p:cNvPicPr preferRelativeResize="0"/>
            <p:nvPr/>
          </p:nvPicPr>
          <p:blipFill>
            <a:blip r:embed="rId16">
              <a:alphaModFix/>
            </a:blip>
            <a:stretch>
              <a:fillRect/>
            </a:stretch>
          </p:blipFill>
          <p:spPr>
            <a:xfrm>
              <a:off x="5494977" y="4795625"/>
              <a:ext cx="1861725" cy="150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5" name="Google Shape;435;p58"/>
            <p:cNvPicPr preferRelativeResize="0"/>
            <p:nvPr/>
          </p:nvPicPr>
          <p:blipFill>
            <a:blip r:embed="rId16">
              <a:alphaModFix/>
            </a:blip>
            <a:stretch>
              <a:fillRect/>
            </a:stretch>
          </p:blipFill>
          <p:spPr>
            <a:xfrm>
              <a:off x="6613027" y="4905750"/>
              <a:ext cx="1861725" cy="150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58"/>
            <p:cNvSpPr txBox="1"/>
            <p:nvPr/>
          </p:nvSpPr>
          <p:spPr>
            <a:xfrm>
              <a:off x="7086901" y="4576036"/>
              <a:ext cx="20016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rgbClr val="0000FF"/>
                  </a:solidFill>
                  <a:uFill>
                    <a:noFill/>
                  </a:uFill>
                  <a:hlinkClick r:id="rId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https://www.pnas.org/doi/10.1073/pnas.1517384113</a:t>
              </a:r>
              <a:r>
                <a:rPr lang="en" sz="600">
                  <a:solidFill>
                    <a:srgbClr val="0000FF"/>
                  </a:solidFill>
                </a:rPr>
                <a:t> </a:t>
              </a:r>
              <a:endParaRPr sz="600">
                <a:solidFill>
                  <a:srgbClr val="0000FF"/>
                </a:solidFill>
              </a:endParaRPr>
            </a:p>
          </p:txBody>
        </p:sp>
        <p:sp>
          <p:nvSpPr>
            <p:cNvPr id="437" name="Google Shape;437;p58"/>
            <p:cNvSpPr txBox="1"/>
            <p:nvPr/>
          </p:nvSpPr>
          <p:spPr>
            <a:xfrm>
              <a:off x="5449241" y="4718416"/>
              <a:ext cx="21255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rgbClr val="0000FF"/>
                  </a:solidFill>
                  <a:uFill>
                    <a:noFill/>
                  </a:uFill>
                  <a:hlinkClick r:id="rId6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https://doi.org/10.1186/s40708-025-00283-w</a:t>
              </a:r>
              <a:r>
                <a:rPr lang="en" sz="600">
                  <a:solidFill>
                    <a:srgbClr val="0000FF"/>
                  </a:solidFill>
                </a:rPr>
                <a:t> </a:t>
              </a:r>
              <a:endParaRPr sz="600">
                <a:solidFill>
                  <a:srgbClr val="0000FF"/>
                </a:solidFill>
              </a:endParaRPr>
            </a:p>
          </p:txBody>
        </p:sp>
        <p:sp>
          <p:nvSpPr>
            <p:cNvPr id="438" name="Google Shape;438;p58"/>
            <p:cNvSpPr txBox="1"/>
            <p:nvPr/>
          </p:nvSpPr>
          <p:spPr>
            <a:xfrm>
              <a:off x="6542851" y="4865025"/>
              <a:ext cx="17907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rgbClr val="0000FF"/>
                  </a:solidFill>
                  <a:uFill>
                    <a:noFill/>
                  </a:uFill>
                  <a:hlinkClick r:id="rId7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https://doi.org/10.1093/bib/bbaf722</a:t>
              </a:r>
              <a:r>
                <a:rPr lang="en" sz="600">
                  <a:solidFill>
                    <a:srgbClr val="0000FF"/>
                  </a:solidFill>
                </a:rPr>
                <a:t> </a:t>
              </a:r>
              <a:endParaRPr sz="600">
                <a:solidFill>
                  <a:srgbClr val="0000FF"/>
                </a:solidFill>
              </a:endParaRPr>
            </a:p>
          </p:txBody>
        </p:sp>
        <p:pic>
          <p:nvPicPr>
            <p:cNvPr id="439" name="Google Shape;439;p58"/>
            <p:cNvPicPr preferRelativeResize="0"/>
            <p:nvPr/>
          </p:nvPicPr>
          <p:blipFill>
            <a:blip r:embed="rId20">
              <a:alphaModFix/>
            </a:blip>
            <a:stretch>
              <a:fillRect/>
            </a:stretch>
          </p:blipFill>
          <p:spPr>
            <a:xfrm>
              <a:off x="5355075" y="4500175"/>
              <a:ext cx="1919450" cy="1484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0" name="Google Shape;440;p58"/>
            <p:cNvSpPr txBox="1"/>
            <p:nvPr/>
          </p:nvSpPr>
          <p:spPr>
            <a:xfrm>
              <a:off x="5321489" y="4425393"/>
              <a:ext cx="17358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600">
                  <a:solidFill>
                    <a:srgbClr val="0000FF"/>
                  </a:solidFill>
                  <a:uFill>
                    <a:noFill/>
                  </a:uFill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https://link.aps.org/doi/10.1103/d4tm-92vb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pic>
        <p:nvPicPr>
          <p:cNvPr id="441" name="Google Shape;441;p58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61175" y="339500"/>
            <a:ext cx="6394524" cy="16745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58"/>
          <p:cNvSpPr txBox="1"/>
          <p:nvPr/>
        </p:nvSpPr>
        <p:spPr>
          <a:xfrm>
            <a:off x="5351400" y="90879"/>
            <a:ext cx="1104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[ on </a:t>
            </a:r>
            <a:r>
              <a:rPr lang="en" sz="1000" b="1">
                <a:solidFill>
                  <a:srgbClr val="0000FF"/>
                </a:solidFill>
                <a:uFill>
                  <a:noFill/>
                </a:uFill>
                <a:hlinkClick r:id="rId2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r>
              <a:rPr lang="en" sz="1000">
                <a:solidFill>
                  <a:schemeClr val="dk2"/>
                </a:solidFill>
              </a:rPr>
              <a:t> ]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9"/>
          <p:cNvSpPr/>
          <p:nvPr/>
        </p:nvSpPr>
        <p:spPr>
          <a:xfrm>
            <a:off x="3047538" y="2217608"/>
            <a:ext cx="3046800" cy="70830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KI-akselerert forskning</a:t>
            </a:r>
            <a:endParaRPr sz="1100"/>
          </a:p>
        </p:txBody>
      </p:sp>
      <p:sp>
        <p:nvSpPr>
          <p:cNvPr id="448" name="Google Shape;448;p59"/>
          <p:cNvSpPr/>
          <p:nvPr/>
        </p:nvSpPr>
        <p:spPr>
          <a:xfrm>
            <a:off x="718656" y="316525"/>
            <a:ext cx="7638000" cy="3712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0DACC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9" name="Google Shape;449;p59"/>
          <p:cNvGrpSpPr/>
          <p:nvPr/>
        </p:nvGrpSpPr>
        <p:grpSpPr>
          <a:xfrm>
            <a:off x="49100" y="1430426"/>
            <a:ext cx="868800" cy="1485300"/>
            <a:chOff x="49100" y="1430426"/>
            <a:chExt cx="868800" cy="1485300"/>
          </a:xfrm>
        </p:grpSpPr>
        <p:sp>
          <p:nvSpPr>
            <p:cNvPr id="450" name="Google Shape;450;p59"/>
            <p:cNvSpPr/>
            <p:nvPr/>
          </p:nvSpPr>
          <p:spPr>
            <a:xfrm>
              <a:off x="49100" y="1430426"/>
              <a:ext cx="868800" cy="1485300"/>
            </a:xfrm>
            <a:prstGeom prst="roundRect">
              <a:avLst>
                <a:gd name="adj" fmla="val 16667"/>
              </a:avLst>
            </a:prstGeom>
            <a:solidFill>
              <a:srgbClr val="548B2C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59"/>
            <p:cNvSpPr txBox="1"/>
            <p:nvPr/>
          </p:nvSpPr>
          <p:spPr>
            <a:xfrm>
              <a:off x="91509" y="1470475"/>
              <a:ext cx="783900" cy="140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4275" tIns="34275" rIns="34275" bIns="3427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Arial"/>
                <a:buNone/>
              </a:pPr>
              <a:r>
                <a:rPr lang="en" sz="9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Id</a:t>
              </a:r>
              <a:r>
                <a:rPr lang="en" sz="900" b="1">
                  <a:solidFill>
                    <a:srgbClr val="FFFFFF"/>
                  </a:solidFill>
                </a:rPr>
                <a:t>ea</a:t>
              </a:r>
              <a:br>
                <a:rPr lang="en" sz="9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endParaRPr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38100" marR="0" lvl="1" indent="-50800" algn="l" rtl="0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Arial"/>
                <a:buChar char="•"/>
              </a:pPr>
              <a:r>
                <a:rPr lang="en" sz="800">
                  <a:solidFill>
                    <a:srgbClr val="FFFFFF"/>
                  </a:solidFill>
                </a:rPr>
                <a:t> Initial concept       or question</a:t>
              </a:r>
              <a:endParaRPr sz="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2" name="Google Shape;452;p59"/>
          <p:cNvGrpSpPr/>
          <p:nvPr/>
        </p:nvGrpSpPr>
        <p:grpSpPr>
          <a:xfrm>
            <a:off x="1062647" y="1430426"/>
            <a:ext cx="868800" cy="1485300"/>
            <a:chOff x="1062647" y="1430426"/>
            <a:chExt cx="868800" cy="1485300"/>
          </a:xfrm>
        </p:grpSpPr>
        <p:sp>
          <p:nvSpPr>
            <p:cNvPr id="453" name="Google Shape;453;p59"/>
            <p:cNvSpPr/>
            <p:nvPr/>
          </p:nvSpPr>
          <p:spPr>
            <a:xfrm>
              <a:off x="1062647" y="1430426"/>
              <a:ext cx="868800" cy="1485300"/>
            </a:xfrm>
            <a:prstGeom prst="roundRect">
              <a:avLst>
                <a:gd name="adj" fmla="val 16667"/>
              </a:avLst>
            </a:prstGeom>
            <a:solidFill>
              <a:srgbClr val="00968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59"/>
            <p:cNvSpPr txBox="1"/>
            <p:nvPr/>
          </p:nvSpPr>
          <p:spPr>
            <a:xfrm>
              <a:off x="1105057" y="1470475"/>
              <a:ext cx="783900" cy="140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4275" tIns="34275" rIns="34275" bIns="3427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Arial"/>
                <a:buNone/>
              </a:pPr>
              <a:r>
                <a:rPr lang="en" sz="900" b="1">
                  <a:solidFill>
                    <a:srgbClr val="FFFFFF"/>
                  </a:solidFill>
                </a:rPr>
                <a:t>Literature Review</a:t>
              </a:r>
              <a:br>
                <a:rPr lang="en" sz="9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endParaRPr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38100" marR="0" lvl="1" indent="-50800" algn="l" rtl="0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Arial"/>
                <a:buChar char="•"/>
              </a:pPr>
              <a:r>
                <a:rPr lang="en" sz="800">
                  <a:solidFill>
                    <a:srgbClr val="FFFFFF"/>
                  </a:solidFill>
                </a:rPr>
                <a:t> </a:t>
              </a:r>
              <a:r>
                <a:rPr lang="en" sz="8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r>
                <a:rPr lang="en" sz="800">
                  <a:solidFill>
                    <a:srgbClr val="FFFFFF"/>
                  </a:solidFill>
                </a:rPr>
                <a:t>xisting research, knowledge gaps</a:t>
              </a:r>
              <a:endParaRPr sz="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5" name="Google Shape;455;p59"/>
          <p:cNvGrpSpPr/>
          <p:nvPr/>
        </p:nvGrpSpPr>
        <p:grpSpPr>
          <a:xfrm>
            <a:off x="2076196" y="1430426"/>
            <a:ext cx="868800" cy="1485300"/>
            <a:chOff x="2076196" y="1430426"/>
            <a:chExt cx="868800" cy="1485300"/>
          </a:xfrm>
        </p:grpSpPr>
        <p:sp>
          <p:nvSpPr>
            <p:cNvPr id="456" name="Google Shape;456;p59"/>
            <p:cNvSpPr/>
            <p:nvPr/>
          </p:nvSpPr>
          <p:spPr>
            <a:xfrm>
              <a:off x="2076196" y="1430426"/>
              <a:ext cx="868800" cy="1485300"/>
            </a:xfrm>
            <a:prstGeom prst="roundRect">
              <a:avLst>
                <a:gd name="adj" fmla="val 16667"/>
              </a:avLst>
            </a:prstGeom>
            <a:solidFill>
              <a:srgbClr val="019BE4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59"/>
            <p:cNvSpPr txBox="1"/>
            <p:nvPr/>
          </p:nvSpPr>
          <p:spPr>
            <a:xfrm>
              <a:off x="2118605" y="1470475"/>
              <a:ext cx="783900" cy="140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4275" tIns="34275" rIns="34275" bIns="3427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Arial"/>
                <a:buNone/>
              </a:pPr>
              <a:r>
                <a:rPr lang="en" sz="900" b="1">
                  <a:solidFill>
                    <a:srgbClr val="FFFFFF"/>
                  </a:solidFill>
                </a:rPr>
                <a:t>Research Questions</a:t>
              </a:r>
              <a:br>
                <a:rPr lang="en" sz="9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endParaRPr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38100" marR="0" lvl="1" indent="-50800" algn="l" rtl="0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Arial"/>
                <a:buChar char="•"/>
              </a:pPr>
              <a:r>
                <a:rPr lang="en" sz="800">
                  <a:solidFill>
                    <a:srgbClr val="FFFFFF"/>
                  </a:solidFill>
                </a:rPr>
                <a:t> </a:t>
              </a:r>
              <a:r>
                <a:rPr lang="en" sz="8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lang="en" sz="800">
                  <a:solidFill>
                    <a:srgbClr val="FFFFFF"/>
                  </a:solidFill>
                </a:rPr>
                <a:t>recisely testable hypothesis or question</a:t>
              </a:r>
              <a:endParaRPr sz="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8" name="Google Shape;458;p59"/>
          <p:cNvGrpSpPr/>
          <p:nvPr/>
        </p:nvGrpSpPr>
        <p:grpSpPr>
          <a:xfrm>
            <a:off x="3089744" y="1430426"/>
            <a:ext cx="868800" cy="1485300"/>
            <a:chOff x="3089744" y="1430426"/>
            <a:chExt cx="868800" cy="1485300"/>
          </a:xfrm>
        </p:grpSpPr>
        <p:sp>
          <p:nvSpPr>
            <p:cNvPr id="459" name="Google Shape;459;p59"/>
            <p:cNvSpPr/>
            <p:nvPr/>
          </p:nvSpPr>
          <p:spPr>
            <a:xfrm>
              <a:off x="3089744" y="1430426"/>
              <a:ext cx="868800" cy="1485300"/>
            </a:xfrm>
            <a:prstGeom prst="roundRect">
              <a:avLst>
                <a:gd name="adj" fmla="val 16667"/>
              </a:avLst>
            </a:prstGeom>
            <a:solidFill>
              <a:srgbClr val="8BC24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59"/>
            <p:cNvSpPr txBox="1"/>
            <p:nvPr/>
          </p:nvSpPr>
          <p:spPr>
            <a:xfrm>
              <a:off x="3132153" y="1470475"/>
              <a:ext cx="783900" cy="140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4275" tIns="34275" rIns="34275" bIns="3427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4065"/>
                </a:buClr>
                <a:buSzPts val="900"/>
                <a:buFont typeface="Arial"/>
                <a:buNone/>
              </a:pPr>
              <a:r>
                <a:rPr lang="en" sz="900" b="1">
                  <a:solidFill>
                    <a:srgbClr val="004065"/>
                  </a:solidFill>
                </a:rPr>
                <a:t>Study Design</a:t>
              </a:r>
              <a:endParaRPr sz="900" b="1">
                <a:solidFill>
                  <a:srgbClr val="00406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Font typeface="Calibri"/>
                <a:buNone/>
              </a:pPr>
              <a:endParaRPr sz="900">
                <a:solidFill>
                  <a:srgbClr val="00406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38100" marR="0" lvl="1" indent="-50800" algn="l" rtl="0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4065"/>
                </a:buClr>
                <a:buSzPts val="800"/>
                <a:buFont typeface="Arial"/>
                <a:buChar char="•"/>
              </a:pPr>
              <a:r>
                <a:rPr lang="en" sz="800">
                  <a:solidFill>
                    <a:srgbClr val="004065"/>
                  </a:solidFill>
                </a:rPr>
                <a:t> Methodology, participants, variables</a:t>
              </a:r>
              <a:endParaRPr sz="800" b="0" i="0" u="none" strike="noStrike" cap="none">
                <a:solidFill>
                  <a:srgbClr val="00406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1" name="Google Shape;461;p59"/>
          <p:cNvGrpSpPr/>
          <p:nvPr/>
        </p:nvGrpSpPr>
        <p:grpSpPr>
          <a:xfrm>
            <a:off x="4103292" y="1430426"/>
            <a:ext cx="868800" cy="1485300"/>
            <a:chOff x="4103292" y="1430426"/>
            <a:chExt cx="868800" cy="1485300"/>
          </a:xfrm>
        </p:grpSpPr>
        <p:sp>
          <p:nvSpPr>
            <p:cNvPr id="462" name="Google Shape;462;p59"/>
            <p:cNvSpPr/>
            <p:nvPr/>
          </p:nvSpPr>
          <p:spPr>
            <a:xfrm>
              <a:off x="4103292" y="1430426"/>
              <a:ext cx="868800" cy="1485300"/>
            </a:xfrm>
            <a:prstGeom prst="roundRect">
              <a:avLst>
                <a:gd name="adj" fmla="val 16667"/>
              </a:avLst>
            </a:prstGeom>
            <a:solidFill>
              <a:srgbClr val="FFEB37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59"/>
            <p:cNvSpPr txBox="1"/>
            <p:nvPr/>
          </p:nvSpPr>
          <p:spPr>
            <a:xfrm>
              <a:off x="4145702" y="1470475"/>
              <a:ext cx="783900" cy="140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4275" tIns="34275" rIns="34275" bIns="3427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4065"/>
                </a:buClr>
                <a:buSzPts val="900"/>
                <a:buFont typeface="Arial"/>
                <a:buNone/>
              </a:pPr>
              <a:r>
                <a:rPr lang="en" sz="900" b="1">
                  <a:solidFill>
                    <a:srgbClr val="004065"/>
                  </a:solidFill>
                </a:rPr>
                <a:t>Applications</a:t>
              </a:r>
              <a:br>
                <a:rPr lang="en" sz="900">
                  <a:solidFill>
                    <a:srgbClr val="004065"/>
                  </a:solidFill>
                  <a:latin typeface="Arial"/>
                  <a:ea typeface="Arial"/>
                  <a:cs typeface="Arial"/>
                  <a:sym typeface="Arial"/>
                </a:rPr>
              </a:br>
              <a:endParaRPr sz="900">
                <a:solidFill>
                  <a:srgbClr val="00406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38100" marR="0" lvl="1" indent="-50800" algn="l" rtl="0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4065"/>
                </a:buClr>
                <a:buSzPts val="800"/>
                <a:buFont typeface="Arial"/>
                <a:buChar char="•"/>
              </a:pPr>
              <a:r>
                <a:rPr lang="en" sz="800">
                  <a:solidFill>
                    <a:srgbClr val="004065"/>
                  </a:solidFill>
                </a:rPr>
                <a:t> </a:t>
              </a:r>
              <a:r>
                <a:rPr lang="en" sz="800" b="0" i="0" u="none" strike="noStrike" cap="none">
                  <a:solidFill>
                    <a:srgbClr val="004065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r>
                <a:rPr lang="en" sz="800">
                  <a:solidFill>
                    <a:srgbClr val="004065"/>
                  </a:solidFill>
                </a:rPr>
                <a:t>thics approval</a:t>
              </a:r>
              <a:endParaRPr sz="800">
                <a:solidFill>
                  <a:srgbClr val="004065"/>
                </a:solidFill>
              </a:endParaRPr>
            </a:p>
            <a:p>
              <a:pPr marL="914400" marR="0" lvl="0" indent="0" algn="l" rtl="0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endParaRPr sz="800">
                <a:solidFill>
                  <a:srgbClr val="004065"/>
                </a:solidFill>
              </a:endParaRPr>
            </a:p>
            <a:p>
              <a:pPr marL="38100" marR="0" lvl="1" indent="-50800" algn="l" rtl="0">
                <a:lnSpc>
                  <a:spcPct val="90000"/>
                </a:lnSpc>
                <a:spcBef>
                  <a:spcPts val="100"/>
                </a:spcBef>
                <a:spcAft>
                  <a:spcPts val="0"/>
                </a:spcAft>
                <a:buClr>
                  <a:srgbClr val="004065"/>
                </a:buClr>
                <a:buSzPts val="800"/>
                <a:buFont typeface="Arial"/>
                <a:buChar char="•"/>
              </a:pPr>
              <a:r>
                <a:rPr lang="en" sz="800">
                  <a:solidFill>
                    <a:srgbClr val="004065"/>
                  </a:solidFill>
                </a:rPr>
                <a:t> </a:t>
              </a:r>
              <a:r>
                <a:rPr lang="en" sz="800" b="0" i="0" u="none" strike="noStrike" cap="none">
                  <a:solidFill>
                    <a:srgbClr val="004065"/>
                  </a:solidFill>
                  <a:latin typeface="Arial"/>
                  <a:ea typeface="Arial"/>
                  <a:cs typeface="Arial"/>
                  <a:sym typeface="Arial"/>
                </a:rPr>
                <a:t>Finan</a:t>
              </a:r>
              <a:r>
                <a:rPr lang="en" sz="800">
                  <a:solidFill>
                    <a:srgbClr val="004065"/>
                  </a:solidFill>
                </a:rPr>
                <a:t>cing</a:t>
              </a:r>
              <a:endParaRPr sz="800" b="0" i="0" u="none" strike="noStrike" cap="none">
                <a:solidFill>
                  <a:srgbClr val="00406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4" name="Google Shape;464;p59"/>
          <p:cNvGrpSpPr/>
          <p:nvPr/>
        </p:nvGrpSpPr>
        <p:grpSpPr>
          <a:xfrm>
            <a:off x="5116840" y="1430426"/>
            <a:ext cx="868800" cy="1485300"/>
            <a:chOff x="5116840" y="1430426"/>
            <a:chExt cx="868800" cy="1485300"/>
          </a:xfrm>
        </p:grpSpPr>
        <p:sp>
          <p:nvSpPr>
            <p:cNvPr id="465" name="Google Shape;465;p59"/>
            <p:cNvSpPr/>
            <p:nvPr/>
          </p:nvSpPr>
          <p:spPr>
            <a:xfrm>
              <a:off x="5116840" y="1430426"/>
              <a:ext cx="868800" cy="1485300"/>
            </a:xfrm>
            <a:prstGeom prst="roundRect">
              <a:avLst>
                <a:gd name="adj" fmla="val 16667"/>
              </a:avLst>
            </a:prstGeom>
            <a:solidFill>
              <a:srgbClr val="548B2C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59"/>
            <p:cNvSpPr txBox="1"/>
            <p:nvPr/>
          </p:nvSpPr>
          <p:spPr>
            <a:xfrm>
              <a:off x="5159250" y="1470475"/>
              <a:ext cx="783900" cy="140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4275" tIns="34275" rIns="34275" bIns="3427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Arial"/>
                <a:buNone/>
              </a:pPr>
              <a:r>
                <a:rPr lang="en" sz="900" b="1">
                  <a:solidFill>
                    <a:srgbClr val="FFFFFF"/>
                  </a:solidFill>
                </a:rPr>
                <a:t>Implementa-</a:t>
              </a:r>
              <a:endParaRPr sz="900" b="1">
                <a:solidFill>
                  <a:srgbClr val="FFFFFF"/>
                </a:solidFill>
              </a:endParaRPr>
            </a:p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Arial"/>
                <a:buNone/>
              </a:pPr>
              <a:r>
                <a:rPr lang="en" sz="900" b="1">
                  <a:solidFill>
                    <a:srgbClr val="FFFFFF"/>
                  </a:solidFill>
                </a:rPr>
                <a:t>tion</a:t>
              </a:r>
              <a:br>
                <a:rPr lang="en" sz="9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endParaRPr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38100" marR="0" lvl="1" indent="-50800" algn="l" rtl="0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Arial"/>
                <a:buChar char="•"/>
              </a:pPr>
              <a:r>
                <a:rPr lang="en" sz="800">
                  <a:solidFill>
                    <a:srgbClr val="FFFFFF"/>
                  </a:solidFill>
                </a:rPr>
                <a:t> Execution, collection of data</a:t>
              </a:r>
              <a:endParaRPr sz="1100"/>
            </a:p>
          </p:txBody>
        </p:sp>
      </p:grpSp>
      <p:grpSp>
        <p:nvGrpSpPr>
          <p:cNvPr id="467" name="Google Shape;467;p59"/>
          <p:cNvGrpSpPr/>
          <p:nvPr/>
        </p:nvGrpSpPr>
        <p:grpSpPr>
          <a:xfrm>
            <a:off x="6130389" y="1430426"/>
            <a:ext cx="868800" cy="1485300"/>
            <a:chOff x="6130389" y="1430426"/>
            <a:chExt cx="868800" cy="1485300"/>
          </a:xfrm>
        </p:grpSpPr>
        <p:sp>
          <p:nvSpPr>
            <p:cNvPr id="468" name="Google Shape;468;p59"/>
            <p:cNvSpPr/>
            <p:nvPr/>
          </p:nvSpPr>
          <p:spPr>
            <a:xfrm>
              <a:off x="6130389" y="1430426"/>
              <a:ext cx="868800" cy="1485300"/>
            </a:xfrm>
            <a:prstGeom prst="roundRect">
              <a:avLst>
                <a:gd name="adj" fmla="val 16667"/>
              </a:avLst>
            </a:prstGeom>
            <a:solidFill>
              <a:srgbClr val="00968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59"/>
            <p:cNvSpPr txBox="1"/>
            <p:nvPr/>
          </p:nvSpPr>
          <p:spPr>
            <a:xfrm>
              <a:off x="6172798" y="1470475"/>
              <a:ext cx="783900" cy="140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4275" tIns="34275" rIns="34275" bIns="3427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Arial"/>
                <a:buNone/>
              </a:pPr>
              <a:r>
                <a:rPr lang="en" sz="900" b="1">
                  <a:solidFill>
                    <a:srgbClr val="FFFFFF"/>
                  </a:solidFill>
                </a:rPr>
                <a:t>Data Analysis</a:t>
              </a:r>
              <a:br>
                <a:rPr lang="en" sz="9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endParaRPr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38100" marR="0" lvl="1" indent="-50800" algn="l" rtl="0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Arial"/>
                <a:buChar char="•"/>
              </a:pPr>
              <a:r>
                <a:rPr lang="en" sz="800">
                  <a:solidFill>
                    <a:srgbClr val="FFFFFF"/>
                  </a:solidFill>
                </a:rPr>
                <a:t> Processing, analysis, statistics, interpretation</a:t>
              </a:r>
              <a:endParaRPr sz="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0" name="Google Shape;470;p59"/>
          <p:cNvGrpSpPr/>
          <p:nvPr/>
        </p:nvGrpSpPr>
        <p:grpSpPr>
          <a:xfrm>
            <a:off x="7143937" y="1430426"/>
            <a:ext cx="868800" cy="1485300"/>
            <a:chOff x="7143937" y="1430426"/>
            <a:chExt cx="868800" cy="1485300"/>
          </a:xfrm>
        </p:grpSpPr>
        <p:sp>
          <p:nvSpPr>
            <p:cNvPr id="471" name="Google Shape;471;p59"/>
            <p:cNvSpPr/>
            <p:nvPr/>
          </p:nvSpPr>
          <p:spPr>
            <a:xfrm>
              <a:off x="7143937" y="1430426"/>
              <a:ext cx="868800" cy="1485300"/>
            </a:xfrm>
            <a:prstGeom prst="roundRect">
              <a:avLst>
                <a:gd name="adj" fmla="val 16667"/>
              </a:avLst>
            </a:prstGeom>
            <a:solidFill>
              <a:srgbClr val="019BE4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59"/>
            <p:cNvSpPr txBox="1"/>
            <p:nvPr/>
          </p:nvSpPr>
          <p:spPr>
            <a:xfrm>
              <a:off x="7186350" y="1470475"/>
              <a:ext cx="783900" cy="140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4275" tIns="34275" rIns="34275" bIns="3427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Arial"/>
                <a:buNone/>
              </a:pPr>
              <a:r>
                <a:rPr lang="en" sz="900" b="1">
                  <a:solidFill>
                    <a:srgbClr val="FFFFFF"/>
                  </a:solidFill>
                </a:rPr>
                <a:t>Reporting</a:t>
              </a:r>
              <a:br>
                <a:rPr lang="en" sz="9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endParaRPr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38100" marR="0" lvl="1" indent="-50800" algn="l" rtl="0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Arial"/>
                <a:buChar char="•"/>
              </a:pPr>
              <a:r>
                <a:rPr lang="en" sz="800">
                  <a:solidFill>
                    <a:srgbClr val="FFFFFF"/>
                  </a:solidFill>
                </a:rPr>
                <a:t> Publishing, peer reviews</a:t>
              </a:r>
              <a:endParaRPr sz="800">
                <a:solidFill>
                  <a:srgbClr val="FFFFFF"/>
                </a:solidFill>
              </a:endParaRPr>
            </a:p>
            <a:p>
              <a:pPr marL="914400" marR="0" lvl="0" indent="0" algn="l" rtl="0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endParaRPr sz="800">
                <a:solidFill>
                  <a:srgbClr val="FFFFFF"/>
                </a:solidFill>
              </a:endParaRPr>
            </a:p>
            <a:p>
              <a:pPr marL="38100" marR="0" lvl="1" indent="-50800" algn="l" rtl="0">
                <a:lnSpc>
                  <a:spcPct val="90000"/>
                </a:lnSpc>
                <a:spcBef>
                  <a:spcPts val="10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Arial"/>
                <a:buChar char="•"/>
              </a:pPr>
              <a:r>
                <a:rPr lang="en" sz="800">
                  <a:solidFill>
                    <a:srgbClr val="FFFFFF"/>
                  </a:solidFill>
                </a:rPr>
                <a:t> Dissemination</a:t>
              </a:r>
              <a:endParaRPr sz="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3" name="Google Shape;473;p59"/>
          <p:cNvGrpSpPr/>
          <p:nvPr/>
        </p:nvGrpSpPr>
        <p:grpSpPr>
          <a:xfrm>
            <a:off x="8157485" y="1430426"/>
            <a:ext cx="868800" cy="1485300"/>
            <a:chOff x="8157485" y="1430426"/>
            <a:chExt cx="868800" cy="1485300"/>
          </a:xfrm>
        </p:grpSpPr>
        <p:sp>
          <p:nvSpPr>
            <p:cNvPr id="474" name="Google Shape;474;p59"/>
            <p:cNvSpPr/>
            <p:nvPr/>
          </p:nvSpPr>
          <p:spPr>
            <a:xfrm>
              <a:off x="8157485" y="1430426"/>
              <a:ext cx="868800" cy="1485300"/>
            </a:xfrm>
            <a:prstGeom prst="roundRect">
              <a:avLst>
                <a:gd name="adj" fmla="val 16667"/>
              </a:avLst>
            </a:prstGeom>
            <a:solidFill>
              <a:srgbClr val="8BC24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59"/>
            <p:cNvSpPr txBox="1"/>
            <p:nvPr/>
          </p:nvSpPr>
          <p:spPr>
            <a:xfrm>
              <a:off x="8199894" y="1470475"/>
              <a:ext cx="783900" cy="140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4275" tIns="34275" rIns="34275" bIns="3427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4065"/>
                </a:buClr>
                <a:buSzPts val="900"/>
                <a:buFont typeface="Arial"/>
                <a:buNone/>
              </a:pPr>
              <a:r>
                <a:rPr lang="en" sz="900" b="1">
                  <a:solidFill>
                    <a:srgbClr val="004065"/>
                  </a:solidFill>
                </a:rPr>
                <a:t>Further Studies</a:t>
              </a:r>
              <a:br>
                <a:rPr lang="en" sz="900">
                  <a:solidFill>
                    <a:srgbClr val="004065"/>
                  </a:solidFill>
                  <a:latin typeface="Arial"/>
                  <a:ea typeface="Arial"/>
                  <a:cs typeface="Arial"/>
                  <a:sym typeface="Arial"/>
                </a:rPr>
              </a:br>
              <a:endParaRPr sz="900">
                <a:solidFill>
                  <a:srgbClr val="00406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38100" marR="0" lvl="1" indent="-50800" algn="l" rtl="0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4065"/>
                </a:buClr>
                <a:buSzPts val="800"/>
                <a:buFont typeface="Arial"/>
                <a:buChar char="•"/>
              </a:pPr>
              <a:r>
                <a:rPr lang="en" sz="800">
                  <a:solidFill>
                    <a:srgbClr val="004065"/>
                  </a:solidFill>
                </a:rPr>
                <a:t> </a:t>
              </a:r>
              <a:r>
                <a:rPr lang="en" sz="800" b="0" i="0" u="none" strike="noStrike" cap="none">
                  <a:solidFill>
                    <a:srgbClr val="004065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r>
                <a:rPr lang="en" sz="800">
                  <a:solidFill>
                    <a:srgbClr val="004065"/>
                  </a:solidFill>
                </a:rPr>
                <a:t>ew studies and collaboration</a:t>
              </a:r>
              <a:endParaRPr sz="800">
                <a:solidFill>
                  <a:srgbClr val="004065"/>
                </a:solidFill>
              </a:endParaRPr>
            </a:p>
            <a:p>
              <a:pPr marL="914400" marR="0" lvl="0" indent="0" algn="l" rtl="0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endParaRPr sz="800">
                <a:solidFill>
                  <a:srgbClr val="004065"/>
                </a:solidFill>
              </a:endParaRPr>
            </a:p>
            <a:p>
              <a:pPr marL="38100" marR="0" lvl="1" indent="-50800" algn="l" rtl="0">
                <a:lnSpc>
                  <a:spcPct val="90000"/>
                </a:lnSpc>
                <a:spcBef>
                  <a:spcPts val="100"/>
                </a:spcBef>
                <a:spcAft>
                  <a:spcPts val="0"/>
                </a:spcAft>
                <a:buClr>
                  <a:srgbClr val="004065"/>
                </a:buClr>
                <a:buSzPts val="800"/>
                <a:buFont typeface="Arial"/>
                <a:buChar char="•"/>
              </a:pPr>
              <a:r>
                <a:rPr lang="en" sz="800">
                  <a:solidFill>
                    <a:srgbClr val="004065"/>
                  </a:solidFill>
                </a:rPr>
                <a:t> Research-</a:t>
              </a:r>
              <a:endParaRPr sz="800">
                <a:solidFill>
                  <a:srgbClr val="004065"/>
                </a:solidFill>
              </a:endParaRPr>
            </a:p>
            <a:p>
              <a:pPr marL="0" marR="0" lvl="0" indent="0" algn="l" rtl="0">
                <a:lnSpc>
                  <a:spcPct val="90000"/>
                </a:lnSpc>
                <a:spcBef>
                  <a:spcPts val="10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004065"/>
                  </a:solidFill>
                </a:rPr>
                <a:t>based teaching</a:t>
              </a:r>
              <a:endParaRPr sz="800" b="0" i="0" u="none" strike="noStrike" cap="none">
                <a:solidFill>
                  <a:srgbClr val="00406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6" name="Google Shape;476;p59"/>
          <p:cNvSpPr txBox="1"/>
          <p:nvPr/>
        </p:nvSpPr>
        <p:spPr>
          <a:xfrm>
            <a:off x="2081917" y="173825"/>
            <a:ext cx="3218700" cy="9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The Research Workflow</a:t>
            </a:r>
            <a:endParaRPr sz="21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(from idea to reporting)</a:t>
            </a:r>
            <a:endParaRPr sz="1800">
              <a:solidFill>
                <a:schemeClr val="dk1"/>
              </a:solidFill>
            </a:endParaRPr>
          </a:p>
        </p:txBody>
      </p:sp>
      <p:grpSp>
        <p:nvGrpSpPr>
          <p:cNvPr id="477" name="Google Shape;477;p59"/>
          <p:cNvGrpSpPr/>
          <p:nvPr/>
        </p:nvGrpSpPr>
        <p:grpSpPr>
          <a:xfrm>
            <a:off x="483350" y="2875750"/>
            <a:ext cx="8108400" cy="2055600"/>
            <a:chOff x="483350" y="2875750"/>
            <a:chExt cx="8108400" cy="2055600"/>
          </a:xfrm>
        </p:grpSpPr>
        <p:sp>
          <p:nvSpPr>
            <p:cNvPr id="478" name="Google Shape;478;p59"/>
            <p:cNvSpPr txBox="1"/>
            <p:nvPr/>
          </p:nvSpPr>
          <p:spPr>
            <a:xfrm>
              <a:off x="1702550" y="4423450"/>
              <a:ext cx="4817400" cy="50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AI support / AI collaborator / AI agents</a:t>
              </a:r>
              <a:endParaRPr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79" name="Google Shape;479;p59"/>
            <p:cNvCxnSpPr>
              <a:stCxn id="478" idx="0"/>
              <a:endCxn id="451" idx="2"/>
            </p:cNvCxnSpPr>
            <p:nvPr/>
          </p:nvCxnSpPr>
          <p:spPr>
            <a:xfrm rot="10800000">
              <a:off x="483350" y="2875750"/>
              <a:ext cx="3627900" cy="1547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80" name="Google Shape;480;p59"/>
            <p:cNvCxnSpPr>
              <a:stCxn id="478" idx="0"/>
              <a:endCxn id="454" idx="2"/>
            </p:cNvCxnSpPr>
            <p:nvPr/>
          </p:nvCxnSpPr>
          <p:spPr>
            <a:xfrm rot="10800000">
              <a:off x="1497050" y="2875750"/>
              <a:ext cx="2614200" cy="1547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81" name="Google Shape;481;p59"/>
            <p:cNvCxnSpPr>
              <a:stCxn id="478" idx="0"/>
              <a:endCxn id="457" idx="2"/>
            </p:cNvCxnSpPr>
            <p:nvPr/>
          </p:nvCxnSpPr>
          <p:spPr>
            <a:xfrm rot="10800000">
              <a:off x="2510450" y="2875750"/>
              <a:ext cx="1600800" cy="1547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82" name="Google Shape;482;p59"/>
            <p:cNvCxnSpPr>
              <a:stCxn id="478" idx="0"/>
              <a:endCxn id="460" idx="2"/>
            </p:cNvCxnSpPr>
            <p:nvPr/>
          </p:nvCxnSpPr>
          <p:spPr>
            <a:xfrm rot="10800000">
              <a:off x="3524150" y="2875750"/>
              <a:ext cx="587100" cy="1547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83" name="Google Shape;483;p59"/>
            <p:cNvCxnSpPr>
              <a:stCxn id="478" idx="0"/>
              <a:endCxn id="463" idx="2"/>
            </p:cNvCxnSpPr>
            <p:nvPr/>
          </p:nvCxnSpPr>
          <p:spPr>
            <a:xfrm rot="10800000" flipH="1">
              <a:off x="4111250" y="2875750"/>
              <a:ext cx="426300" cy="1547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84" name="Google Shape;484;p59"/>
            <p:cNvCxnSpPr>
              <a:stCxn id="478" idx="0"/>
              <a:endCxn id="466" idx="2"/>
            </p:cNvCxnSpPr>
            <p:nvPr/>
          </p:nvCxnSpPr>
          <p:spPr>
            <a:xfrm rot="10800000" flipH="1">
              <a:off x="4111250" y="2875750"/>
              <a:ext cx="1440000" cy="1547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85" name="Google Shape;485;p59"/>
            <p:cNvCxnSpPr>
              <a:stCxn id="478" idx="0"/>
              <a:endCxn id="469" idx="2"/>
            </p:cNvCxnSpPr>
            <p:nvPr/>
          </p:nvCxnSpPr>
          <p:spPr>
            <a:xfrm rot="10800000" flipH="1">
              <a:off x="4111250" y="2875750"/>
              <a:ext cx="2453400" cy="1547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86" name="Google Shape;486;p59"/>
            <p:cNvCxnSpPr>
              <a:stCxn id="478" idx="0"/>
              <a:endCxn id="472" idx="2"/>
            </p:cNvCxnSpPr>
            <p:nvPr/>
          </p:nvCxnSpPr>
          <p:spPr>
            <a:xfrm rot="10800000" flipH="1">
              <a:off x="4111250" y="2875750"/>
              <a:ext cx="3467100" cy="1547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87" name="Google Shape;487;p59"/>
            <p:cNvCxnSpPr>
              <a:stCxn id="478" idx="0"/>
              <a:endCxn id="475" idx="2"/>
            </p:cNvCxnSpPr>
            <p:nvPr/>
          </p:nvCxnSpPr>
          <p:spPr>
            <a:xfrm rot="10800000" flipH="1">
              <a:off x="4111250" y="2875750"/>
              <a:ext cx="4480500" cy="1547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488" name="Google Shape;488;p59"/>
          <p:cNvSpPr txBox="1"/>
          <p:nvPr/>
        </p:nvSpPr>
        <p:spPr>
          <a:xfrm>
            <a:off x="2749346" y="4854111"/>
            <a:ext cx="3000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hlink"/>
                </a:solidFill>
                <a:uFill>
                  <a:noFill/>
                </a:uFill>
                <a:hlinkClick r:id="rId3"/>
              </a:rPr>
              <a:t>https://github.com/arvidl/AI-assisted-glioma-research</a:t>
            </a:r>
            <a:endParaRPr sz="800"/>
          </a:p>
        </p:txBody>
      </p:sp>
      <p:pic>
        <p:nvPicPr>
          <p:cNvPr id="489" name="Google Shape;489;p59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58762" y="4931347"/>
            <a:ext cx="694387" cy="13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4" name="Google Shape;494;p6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24216">
            <a:off x="7857475" y="2970100"/>
            <a:ext cx="360050" cy="133200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60"/>
          <p:cNvSpPr txBox="1"/>
          <p:nvPr/>
        </p:nvSpPr>
        <p:spPr>
          <a:xfrm rot="-134784">
            <a:off x="7781071" y="2880557"/>
            <a:ext cx="512794" cy="338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CODE</a:t>
            </a:r>
            <a:endParaRPr sz="1000" b="0" i="0" u="none" strike="noStrike" cap="none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496" name="Google Shape;496;p60"/>
          <p:cNvSpPr txBox="1"/>
          <p:nvPr/>
        </p:nvSpPr>
        <p:spPr>
          <a:xfrm>
            <a:off x="4495325" y="1235350"/>
            <a:ext cx="21132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" sz="26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Thank you !</a:t>
            </a:r>
            <a:endParaRPr sz="2600" b="0" i="0" u="none" strike="noStrike" cap="non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7" name="Google Shape;497;p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364" y="4337785"/>
            <a:ext cx="768125" cy="76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1540</Words>
  <Application>Microsoft Macintosh PowerPoint</Application>
  <PresentationFormat>On-screen Show (16:9)</PresentationFormat>
  <Paragraphs>199</Paragraphs>
  <Slides>16</Slides>
  <Notes>16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Arial</vt:lpstr>
      <vt:lpstr>Calibri</vt:lpstr>
      <vt:lpstr>Georgia</vt:lpstr>
      <vt:lpstr>Impact</vt:lpstr>
      <vt:lpstr>Times New Roman</vt:lpstr>
      <vt:lpstr>Simple Light</vt:lpstr>
      <vt:lpstr>ChatGPT</vt:lpstr>
      <vt:lpstr>Simple Light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Arvid Lundervold</cp:lastModifiedBy>
  <cp:revision>1</cp:revision>
  <dcterms:modified xsi:type="dcterms:W3CDTF">2026-10-21T01:35:40Z</dcterms:modified>
</cp:coreProperties>
</file>