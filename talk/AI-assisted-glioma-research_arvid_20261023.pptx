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0" r:id="rId4"/>
    <p:sldMasterId id="2147483701" r:id="rId5"/>
    <p:sldMasterId id="2147483702" r:id="rId6"/>
    <p:sldMasterId id="2147483703" r:id="rId7"/>
    <p:sldMasterId id="2147483704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25" Type="http://schemas.openxmlformats.org/officeDocument/2006/relationships/slide" Target="slides/slide16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78c09809294d877f_8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h78c09809294d877f_8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d69a2e44918508f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hd69a2e44918508f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d69a2e44918508f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hd69a2e44918508f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78c09809294d877f_8_2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h78c09809294d877f_8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78c09809294d877f_15_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h78c09809294d877f_15_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Published imaging AI methods · 1:12 · cumulative 2:36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Our recent feasibility paper provides the imaging foundation. We combine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multiparametric MRI with three-compartment tumor segmentation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subject-specific anatomical parcellation. The trained deep-learning imaging model, the unified MONAI BraTS SegResNet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pipeline uses T1, contrast-enhanced T1, T2 and FLAIR. The compartments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non-enhancing or necrotic core, edema and enhancing tumor. FreeSurfer supplies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anatomical labels, and intersections produce overlap volumes and regional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profiles. In this published illustration, the compartment panel uses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dataset's reference masks. It shows the anatomical workflow, rather than a new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prediction generated today. The public code accompanies the study. Our teaching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repository quotes its results and reuses attributed figures; it does not rerun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trained model. [Point from MRI sequences to compartments and anatomy.]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https://doi.org/10.1080/03091902.2026.2713703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https://github.com/arvidl/high-precision-glioma-segmentation</a:t>
            </a:r>
            <a:endParaRPr/>
          </a:p>
        </p:txBody>
      </p:sp>
      <p:sp>
        <p:nvSpPr>
          <p:cNvPr id="342" name="Google Shape;342;h78c09809294d877f_15_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h78c09809294d877f_15_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h78c09809294d877f_15_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Regional burden · 1:12 · cumulative 3:48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top row shows published tumor-compartment boundaries over MRI in three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orthogonal views; the bottom row shows anatomy in the same subject space.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This locates a question: which region is involved, and what further observation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would be useful? A language assessment or physiological recording may 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appropriate. An anatomical label alone does not establish functional eloquence,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and a FLAIR-related compartment does not identify a cell program or a neuron–glioma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synapse. The AI supplies compartment segmentation in the published workflow;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anatomical interpretation still needs review. The backup hit-plot summarizes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intersections in milliliters. [Explain the shared location; do not read each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small region label.]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Sources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https://doi.org/10.1080/03091902.2026.2713703</a:t>
            </a:r>
            <a:endParaRPr/>
          </a:p>
        </p:txBody>
      </p:sp>
      <p:sp>
        <p:nvSpPr>
          <p:cNvPr id="363" name="Google Shape;363;h78c09809294d877f_15_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h433ab110e2af6d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h433ab110e2af6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h16aefd947c47a96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h16aefd947c47a96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h16aefd947c47a966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h16aefd947c47a966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h8d5d6711ddd8d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h8d5d6711ddd8d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h78c09809294d877f_8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h78c09809294d877f_8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hd69a2e44918508f_1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hd69a2e44918508f_1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h78c09809294d877f_8_1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h78c09809294d877f_8_1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h6b49f2efe54e0df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h6b49f2efe54e0df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h78c09809294d877f_8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h78c09809294d877f_8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">
  <p:cSld name="SECTION_HEADER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3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619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655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–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655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b="0" i="0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1" name="Google Shape;7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2" name="Google Shape;7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" name="Google Shape;7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" name="Google Shape;86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0" name="Google Shape;9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9" name="Google Shape;9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2" name="Google Shape;102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" name="Google Shape;10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">
  <p:cSld name="SECTION_HEADER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9" name="Google Shape;10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3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3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36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9" name="Google Shape;129;p3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3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7"/>
          <p:cNvSpPr txBox="1"/>
          <p:nvPr>
            <p:ph type="title"/>
          </p:nvPr>
        </p:nvSpPr>
        <p:spPr>
          <a:xfrm>
            <a:off x="623888" y="1282305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7"/>
          <p:cNvSpPr txBox="1"/>
          <p:nvPr>
            <p:ph idx="1" type="body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3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3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9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8" name="Google Shape;148;p39"/>
          <p:cNvSpPr txBox="1"/>
          <p:nvPr>
            <p:ph idx="2" type="body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9" name="Google Shape;149;p39"/>
          <p:cNvSpPr txBox="1"/>
          <p:nvPr>
            <p:ph idx="3" type="body"/>
          </p:nvPr>
        </p:nvSpPr>
        <p:spPr>
          <a:xfrm>
            <a:off x="4629151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0" name="Google Shape;150;p39"/>
          <p:cNvSpPr txBox="1"/>
          <p:nvPr>
            <p:ph idx="4" type="body"/>
          </p:nvPr>
        </p:nvSpPr>
        <p:spPr>
          <a:xfrm>
            <a:off x="4629151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3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3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4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4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41"/>
          <p:cNvSpPr txBox="1"/>
          <p:nvPr>
            <p:ph idx="1" type="body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62" name="Google Shape;162;p41"/>
          <p:cNvSpPr txBox="1"/>
          <p:nvPr>
            <p:ph idx="2" type="body"/>
          </p:nvPr>
        </p:nvSpPr>
        <p:spPr>
          <a:xfrm>
            <a:off x="629841" y="1543051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63" name="Google Shape;163;p4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4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42"/>
          <p:cNvSpPr/>
          <p:nvPr>
            <p:ph idx="2" type="pic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42"/>
          <p:cNvSpPr txBox="1"/>
          <p:nvPr>
            <p:ph idx="1" type="body"/>
          </p:nvPr>
        </p:nvSpPr>
        <p:spPr>
          <a:xfrm>
            <a:off x="629841" y="1543051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4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4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4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6" name="Google Shape;176;p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4"/>
          <p:cNvSpPr txBox="1"/>
          <p:nvPr>
            <p:ph type="title"/>
          </p:nvPr>
        </p:nvSpPr>
        <p:spPr>
          <a:xfrm rot="5400000">
            <a:off x="5350051" y="1467545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44"/>
          <p:cNvSpPr txBox="1"/>
          <p:nvPr>
            <p:ph idx="1" type="body"/>
          </p:nvPr>
        </p:nvSpPr>
        <p:spPr>
          <a:xfrm rot="5400000">
            <a:off x="1349476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2" name="Google Shape;182;p4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4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1" name="Google Shape;19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2" name="Google Shape;19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5" name="Google Shape;19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" name="Google Shape;198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9" name="Google Shape;19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3" name="Google Shape;203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" name="Google Shape;20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0" name="Google Shape;210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1" name="Google Shape;21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4" name="Google Shape;214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8" name="Google Shape;218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9" name="Google Shape;219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23" name="Google Shape;223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6" name="Google Shape;22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7" name="Google Shape;227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5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2" name="Google Shape;112;p3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3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3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8" name="Google Shape;18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https://github.com/arvidl/high-precision-glioma-segmentation" TargetMode="External"/><Relationship Id="rId10" Type="http://schemas.openxmlformats.org/officeDocument/2006/relationships/hyperlink" Target="https://github.com/arvidl/glioma-brain-digital-twin-public" TargetMode="External"/><Relationship Id="rId13" Type="http://schemas.openxmlformats.org/officeDocument/2006/relationships/hyperlink" Target="https://github.com/arvidl/brainweb_fisher_kpp" TargetMode="External"/><Relationship Id="rId12" Type="http://schemas.openxmlformats.org/officeDocument/2006/relationships/hyperlink" Target="https://github.com/arvidl/glioma-growth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rain.sdu.edu.cn/en/ChiNor_Brain_Research_Centre.htm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github.com/arvidl/AI-assisted-glioma-research" TargetMode="External"/><Relationship Id="rId15" Type="http://schemas.openxmlformats.org/officeDocument/2006/relationships/image" Target="../media/image3.png"/><Relationship Id="rId14" Type="http://schemas.openxmlformats.org/officeDocument/2006/relationships/hyperlink" Target="https://github.com/arvidl/glioma-connectivity-and-cognition" TargetMode="External"/><Relationship Id="rId5" Type="http://schemas.openxmlformats.org/officeDocument/2006/relationships/image" Target="../media/image56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75.png"/><Relationship Id="rId11" Type="http://schemas.openxmlformats.org/officeDocument/2006/relationships/image" Target="../media/image33.png"/><Relationship Id="rId10" Type="http://schemas.openxmlformats.org/officeDocument/2006/relationships/hyperlink" Target="https://doi.org/10.1073/pnas.2513172122" TargetMode="External"/><Relationship Id="rId21" Type="http://schemas.openxmlformats.org/officeDocument/2006/relationships/image" Target="../media/image47.png"/><Relationship Id="rId13" Type="http://schemas.openxmlformats.org/officeDocument/2006/relationships/image" Target="../media/image16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9" Type="http://schemas.openxmlformats.org/officeDocument/2006/relationships/image" Target="../media/image10.png"/><Relationship Id="rId15" Type="http://schemas.openxmlformats.org/officeDocument/2006/relationships/image" Target="../media/image8.png"/><Relationship Id="rId14" Type="http://schemas.openxmlformats.org/officeDocument/2006/relationships/image" Target="../media/image57.png"/><Relationship Id="rId17" Type="http://schemas.openxmlformats.org/officeDocument/2006/relationships/image" Target="../media/image9.png"/><Relationship Id="rId16" Type="http://schemas.openxmlformats.org/officeDocument/2006/relationships/image" Target="../media/image13.png"/><Relationship Id="rId5" Type="http://schemas.openxmlformats.org/officeDocument/2006/relationships/image" Target="../media/image11.png"/><Relationship Id="rId19" Type="http://schemas.openxmlformats.org/officeDocument/2006/relationships/image" Target="../media/image63.png"/><Relationship Id="rId6" Type="http://schemas.openxmlformats.org/officeDocument/2006/relationships/hyperlink" Target="https://www.nature.com/articles/d41586-023-01387-1" TargetMode="External"/><Relationship Id="rId18" Type="http://schemas.openxmlformats.org/officeDocument/2006/relationships/hyperlink" Target="https://www.tandfonline.com/doi/full/10.1080/03091902.2026.2713703" TargetMode="External"/><Relationship Id="rId7" Type="http://schemas.openxmlformats.org/officeDocument/2006/relationships/image" Target="../media/image20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aimspress.com/article/10.3934/mbe.2020207" TargetMode="External"/><Relationship Id="rId4" Type="http://schemas.openxmlformats.org/officeDocument/2006/relationships/hyperlink" Target="https://www.aimspress.com/journal/mbe" TargetMode="External"/><Relationship Id="rId5" Type="http://schemas.openxmlformats.org/officeDocument/2006/relationships/hyperlink" Target="https://www.aimspress.com/mbe/article/archives" TargetMode="External"/><Relationship Id="rId6" Type="http://schemas.openxmlformats.org/officeDocument/2006/relationships/hyperlink" Target="https://en.wikipedia.org/wiki/KPP%E2%80%93Fisher_equation" TargetMode="External"/><Relationship Id="rId7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nature.com/articles/s41698-024-00575-0" TargetMode="External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hyperlink" Target="https://doi.org/10.1080/03091902.2026.2713703" TargetMode="External"/><Relationship Id="rId5" Type="http://schemas.openxmlformats.org/officeDocument/2006/relationships/hyperlink" Target="https://github.com/arvidl/high-precision-glioma-segmentation" TargetMode="External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51.png"/><Relationship Id="rId13" Type="http://schemas.openxmlformats.org/officeDocument/2006/relationships/image" Target="../media/image27.png"/><Relationship Id="rId12" Type="http://schemas.openxmlformats.org/officeDocument/2006/relationships/hyperlink" Target="https://github.com/arvidl/brainweb_fisher_kpp" TargetMode="External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18.png"/><Relationship Id="rId9" Type="http://schemas.openxmlformats.org/officeDocument/2006/relationships/image" Target="../media/image43.gif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36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3.gif"/><Relationship Id="rId4" Type="http://schemas.openxmlformats.org/officeDocument/2006/relationships/image" Target="../media/image34.png"/><Relationship Id="rId5" Type="http://schemas.openxmlformats.org/officeDocument/2006/relationships/image" Target="../media/image44.png"/><Relationship Id="rId6" Type="http://schemas.openxmlformats.org/officeDocument/2006/relationships/hyperlink" Target="https://www.frontiersin.org/journals/oncology/articles/10.3389/fonc.2021.703764/full" TargetMode="External"/><Relationship Id="rId7" Type="http://schemas.openxmlformats.org/officeDocument/2006/relationships/image" Target="../media/image32.png"/><Relationship Id="rId8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40.gif"/><Relationship Id="rId9" Type="http://schemas.openxmlformats.org/officeDocument/2006/relationships/image" Target="../media/image42.png"/><Relationship Id="rId5" Type="http://schemas.openxmlformats.org/officeDocument/2006/relationships/image" Target="../media/image31.png"/><Relationship Id="rId6" Type="http://schemas.openxmlformats.org/officeDocument/2006/relationships/hyperlink" Target="https://github.com/arvidl/brainweb_fisher_kpp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Relationship Id="rId4" Type="http://schemas.openxmlformats.org/officeDocument/2006/relationships/image" Target="../media/image40.gif"/><Relationship Id="rId9" Type="http://schemas.openxmlformats.org/officeDocument/2006/relationships/image" Target="../media/image69.gif"/><Relationship Id="rId5" Type="http://schemas.openxmlformats.org/officeDocument/2006/relationships/image" Target="../media/image38.png"/><Relationship Id="rId6" Type="http://schemas.openxmlformats.org/officeDocument/2006/relationships/image" Target="../media/image45.png"/><Relationship Id="rId7" Type="http://schemas.openxmlformats.org/officeDocument/2006/relationships/image" Target="../media/image73.png"/><Relationship Id="rId8" Type="http://schemas.openxmlformats.org/officeDocument/2006/relationships/image" Target="../media/image8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.jpg"/><Relationship Id="rId4" Type="http://schemas.openxmlformats.org/officeDocument/2006/relationships/image" Target="../media/image50.png"/><Relationship Id="rId5" Type="http://schemas.openxmlformats.org/officeDocument/2006/relationships/hyperlink" Target="https://github.com/arvidl/glioma-brain-digital-twin-public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jpg"/><Relationship Id="rId4" Type="http://schemas.openxmlformats.org/officeDocument/2006/relationships/image" Target="../media/image55.png"/><Relationship Id="rId5" Type="http://schemas.openxmlformats.org/officeDocument/2006/relationships/image" Target="../media/image53.png"/><Relationship Id="rId6" Type="http://schemas.openxmlformats.org/officeDocument/2006/relationships/hyperlink" Target="https://github.com/arvidl/glioma-brain-digital-twin-public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pnas.org/doi/10.1073/pnas.1517384113" TargetMode="External"/><Relationship Id="rId22" Type="http://schemas.openxmlformats.org/officeDocument/2006/relationships/hyperlink" Target="https://doi.org/10.1093/bib/bbaf722" TargetMode="External"/><Relationship Id="rId21" Type="http://schemas.openxmlformats.org/officeDocument/2006/relationships/hyperlink" Target="https://doi.org/10.1186/s40708-025-00283-w" TargetMode="External"/><Relationship Id="rId24" Type="http://schemas.openxmlformats.org/officeDocument/2006/relationships/hyperlink" Target="https://link.aps.org/doi/10.1103/d4tm-92vb" TargetMode="External"/><Relationship Id="rId23" Type="http://schemas.openxmlformats.org/officeDocument/2006/relationships/image" Target="../media/image76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9.jpg"/><Relationship Id="rId4" Type="http://schemas.openxmlformats.org/officeDocument/2006/relationships/hyperlink" Target="https://link.aps.org/doi/10.1103/d4tm-92vb" TargetMode="External"/><Relationship Id="rId9" Type="http://schemas.openxmlformats.org/officeDocument/2006/relationships/image" Target="../media/image68.png"/><Relationship Id="rId26" Type="http://schemas.openxmlformats.org/officeDocument/2006/relationships/hyperlink" Target="https://github.com/arvidl/glioma-brain-digital-twin-public" TargetMode="External"/><Relationship Id="rId25" Type="http://schemas.openxmlformats.org/officeDocument/2006/relationships/image" Target="../media/image50.png"/><Relationship Id="rId5" Type="http://schemas.openxmlformats.org/officeDocument/2006/relationships/hyperlink" Target="https://www.pnas.org/doi/10.1073/pnas.1517384113" TargetMode="External"/><Relationship Id="rId6" Type="http://schemas.openxmlformats.org/officeDocument/2006/relationships/hyperlink" Target="https://doi.org/10.1186/s40708-025-00283-w" TargetMode="External"/><Relationship Id="rId7" Type="http://schemas.openxmlformats.org/officeDocument/2006/relationships/hyperlink" Target="https://doi.org/10.1093/bib/bbaf722" TargetMode="External"/><Relationship Id="rId8" Type="http://schemas.openxmlformats.org/officeDocument/2006/relationships/image" Target="../media/image65.png"/><Relationship Id="rId11" Type="http://schemas.openxmlformats.org/officeDocument/2006/relationships/image" Target="../media/image77.png"/><Relationship Id="rId10" Type="http://schemas.openxmlformats.org/officeDocument/2006/relationships/image" Target="../media/image78.png"/><Relationship Id="rId13" Type="http://schemas.openxmlformats.org/officeDocument/2006/relationships/image" Target="../media/image80.png"/><Relationship Id="rId12" Type="http://schemas.openxmlformats.org/officeDocument/2006/relationships/image" Target="../media/image81.png"/><Relationship Id="rId15" Type="http://schemas.openxmlformats.org/officeDocument/2006/relationships/image" Target="../media/image61.png"/><Relationship Id="rId14" Type="http://schemas.openxmlformats.org/officeDocument/2006/relationships/image" Target="../media/image79.png"/><Relationship Id="rId17" Type="http://schemas.openxmlformats.org/officeDocument/2006/relationships/image" Target="../media/image64.png"/><Relationship Id="rId16" Type="http://schemas.openxmlformats.org/officeDocument/2006/relationships/image" Target="../media/image60.png"/><Relationship Id="rId19" Type="http://schemas.openxmlformats.org/officeDocument/2006/relationships/image" Target="../media/image72.png"/><Relationship Id="rId18" Type="http://schemas.openxmlformats.org/officeDocument/2006/relationships/image" Target="../media/image6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arvidl/AI-assisted-glioma-research" TargetMode="External"/><Relationship Id="rId4" Type="http://schemas.openxmlformats.org/officeDocument/2006/relationships/hyperlink" Target="https://colab.research.google.com/github/arvidl/AI-assisted-glioma-research/blob/main/notebooks/13_research_workflow_examples.ipynb" TargetMode="External"/><Relationship Id="rId5" Type="http://schemas.openxmlformats.org/officeDocument/2006/relationships/image" Target="../media/image6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4.jpg"/><Relationship Id="rId4" Type="http://schemas.openxmlformats.org/officeDocument/2006/relationships/image" Target="../media/image70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8"/>
          <p:cNvSpPr txBox="1"/>
          <p:nvPr/>
        </p:nvSpPr>
        <p:spPr>
          <a:xfrm>
            <a:off x="5679595" y="8857"/>
            <a:ext cx="25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2413E"/>
                </a:solidFill>
                <a:latin typeface="Arial"/>
                <a:ea typeface="Arial"/>
                <a:cs typeface="Arial"/>
                <a:sym typeface="Arial"/>
              </a:rPr>
              <a:t>ChiNor Brain Science Research</a:t>
            </a:r>
            <a:endParaRPr b="1" i="0" sz="1800" u="none" cap="none" strike="noStrike">
              <a:solidFill>
                <a:srgbClr val="32413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36" name="Google Shape;236;p5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6551" y="44397"/>
            <a:ext cx="600775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100" y="300166"/>
            <a:ext cx="1874473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87590" y="317140"/>
            <a:ext cx="821683" cy="29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825" y="8850"/>
            <a:ext cx="687075" cy="68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950" y="4764174"/>
            <a:ext cx="645500" cy="29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8"/>
          <p:cNvSpPr txBox="1"/>
          <p:nvPr/>
        </p:nvSpPr>
        <p:spPr>
          <a:xfrm>
            <a:off x="254550" y="2720712"/>
            <a:ext cx="86349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3E60"/>
                </a:solidFill>
                <a:latin typeface="Arial"/>
                <a:ea typeface="Arial"/>
                <a:cs typeface="Arial"/>
                <a:sym typeface="Arial"/>
              </a:rPr>
              <a:t>Arvid Lundervold </a:t>
            </a:r>
            <a:r>
              <a:rPr b="0" i="0" lang="en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4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BSc, MD, PhD</a:t>
            </a:r>
            <a:endParaRPr b="0" i="0" sz="1400" u="none" cap="none" strike="noStrike">
              <a:solidFill>
                <a:srgbClr val="1414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Professor em. medical information technology and physiology</a:t>
            </a:r>
            <a:endParaRPr b="0" i="0" sz="1500" u="none" cap="none" strike="noStrike">
              <a:solidFill>
                <a:srgbClr val="1414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r>
              <a:t/>
            </a:r>
            <a:endParaRPr b="0" i="0" sz="300" u="none" cap="none" strike="noStrike">
              <a:solidFill>
                <a:srgbClr val="1414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Department of Biomedicine, University of Bergen, Norway</a:t>
            </a:r>
            <a:endParaRPr b="0" i="0" sz="1400" u="none" cap="none" strike="noStrike">
              <a:solidFill>
                <a:srgbClr val="1414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Mohn Medical Imaging and Visualization Center, Department of Radiology, Haukeland University Hospital Bergen, Norway</a:t>
            </a:r>
            <a:endParaRPr b="0" i="0" sz="1400" u="none" cap="none" strike="noStrike">
              <a:solidFill>
                <a:srgbClr val="1414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8"/>
          <p:cNvSpPr txBox="1"/>
          <p:nvPr/>
        </p:nvSpPr>
        <p:spPr>
          <a:xfrm>
            <a:off x="79950" y="785948"/>
            <a:ext cx="8984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/>
              <a:t>AI-assisted Glioma Research</a:t>
            </a: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1600"/>
              <a:t>Imaging, Tumor-Brain Interactions, and Cognition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2026 </a:t>
            </a:r>
            <a:r>
              <a:rPr b="0" i="0" lang="en" sz="1600" u="none" cap="none" strike="noStrike">
                <a:latin typeface="Arial"/>
                <a:ea typeface="Arial"/>
                <a:cs typeface="Arial"/>
                <a:sym typeface="Arial"/>
              </a:rPr>
              <a:t>China-Europe Neurosurgery Academic Symposiu</a:t>
            </a:r>
            <a:r>
              <a:rPr lang="en" sz="1600"/>
              <a:t>m</a:t>
            </a:r>
            <a:r>
              <a:rPr b="0" i="0" lang="en" sz="1600" u="none" cap="none" strike="noStrike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600"/>
              <a:t>Jinan</a:t>
            </a:r>
            <a:r>
              <a:rPr b="0" i="0" lang="en" sz="1600" u="none" cap="none" strike="noStrike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600"/>
              <a:t>22-25</a:t>
            </a:r>
            <a:r>
              <a:rPr b="0" i="0" lang="en" sz="16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00"/>
              <a:t>October</a:t>
            </a:r>
            <a:r>
              <a:rPr b="0" i="0" lang="en" sz="1600" u="none" cap="none" strike="noStrike">
                <a:latin typeface="Arial"/>
                <a:ea typeface="Arial"/>
                <a:cs typeface="Arial"/>
                <a:sym typeface="Arial"/>
              </a:rPr>
              <a:t> 202</a:t>
            </a:r>
            <a:r>
              <a:rPr lang="en" sz="1600"/>
              <a:t>6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" name="Google Shape;243;p58"/>
          <p:cNvGrpSpPr/>
          <p:nvPr/>
        </p:nvGrpSpPr>
        <p:grpSpPr>
          <a:xfrm>
            <a:off x="859331" y="4434926"/>
            <a:ext cx="8242589" cy="731008"/>
            <a:chOff x="859331" y="4434926"/>
            <a:chExt cx="8242589" cy="731008"/>
          </a:xfrm>
        </p:grpSpPr>
        <p:sp>
          <p:nvSpPr>
            <p:cNvPr id="244" name="Google Shape;244;p58"/>
            <p:cNvSpPr txBox="1"/>
            <p:nvPr/>
          </p:nvSpPr>
          <p:spPr>
            <a:xfrm>
              <a:off x="6557020" y="4805808"/>
              <a:ext cx="2544900" cy="2925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lang="en" sz="700">
                  <a:solidFill>
                    <a:srgbClr val="0000FF"/>
                  </a:solidFill>
                  <a:uFill>
                    <a:noFill/>
                  </a:uFill>
                  <a:hlinkClick r:id="rId9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https://github.com/arvidl/AI-assisted-glioma-research</a:t>
              </a:r>
              <a:endParaRPr b="1" i="0" sz="700" cap="none" strike="noStrike">
                <a:solidFill>
                  <a:srgbClr val="0000FF"/>
                </a:solidFill>
              </a:endParaRPr>
            </a:p>
          </p:txBody>
        </p:sp>
        <p:sp>
          <p:nvSpPr>
            <p:cNvPr id="245" name="Google Shape;245;p58"/>
            <p:cNvSpPr txBox="1"/>
            <p:nvPr/>
          </p:nvSpPr>
          <p:spPr>
            <a:xfrm>
              <a:off x="957780" y="4726198"/>
              <a:ext cx="2236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0000FF"/>
                  </a:solidFill>
                  <a:uFill>
                    <a:noFill/>
                  </a:uFill>
                  <a:hlinkClick r:id="rId10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https://github.com/arvidl/glioma-brain-digital-twin-public</a:t>
              </a:r>
              <a:endParaRPr b="1" sz="600">
                <a:solidFill>
                  <a:srgbClr val="0000FF"/>
                </a:solidFill>
              </a:endParaRPr>
            </a:p>
          </p:txBody>
        </p:sp>
        <p:sp>
          <p:nvSpPr>
            <p:cNvPr id="246" name="Google Shape;246;p58"/>
            <p:cNvSpPr txBox="1"/>
            <p:nvPr/>
          </p:nvSpPr>
          <p:spPr>
            <a:xfrm>
              <a:off x="859331" y="4889034"/>
              <a:ext cx="2440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0000FF"/>
                  </a:solidFill>
                  <a:uFill>
                    <a:noFill/>
                  </a:uFill>
                  <a:hlinkClick r:id="rId11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https://github.com/arvidl/high-precision-glioma-segmentation</a:t>
              </a:r>
              <a:endParaRPr b="1" sz="600">
                <a:solidFill>
                  <a:srgbClr val="0000FF"/>
                </a:solidFill>
              </a:endParaRPr>
            </a:p>
          </p:txBody>
        </p:sp>
        <p:sp>
          <p:nvSpPr>
            <p:cNvPr id="247" name="Google Shape;247;p58"/>
            <p:cNvSpPr txBox="1"/>
            <p:nvPr/>
          </p:nvSpPr>
          <p:spPr>
            <a:xfrm>
              <a:off x="1200403" y="4571994"/>
              <a:ext cx="17187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0000FF"/>
                  </a:solidFill>
                  <a:uFill>
                    <a:noFill/>
                  </a:uFill>
                  <a:hlinkClick r:id="rId1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https://github.com/arvidl/glioma-growth</a:t>
              </a:r>
              <a:endParaRPr b="1" sz="600">
                <a:solidFill>
                  <a:srgbClr val="0000FF"/>
                </a:solidFill>
              </a:endParaRPr>
            </a:p>
          </p:txBody>
        </p:sp>
        <p:sp>
          <p:nvSpPr>
            <p:cNvPr id="248" name="Google Shape;248;p58"/>
            <p:cNvSpPr txBox="1"/>
            <p:nvPr/>
          </p:nvSpPr>
          <p:spPr>
            <a:xfrm>
              <a:off x="6889678" y="4434926"/>
              <a:ext cx="18744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0000FF"/>
                  </a:solidFill>
                  <a:uFill>
                    <a:noFill/>
                  </a:uFill>
                  <a:hlinkClick r:id="rId1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https://github.com/arvidl/brainweb_fisher_kpp</a:t>
              </a:r>
              <a:endParaRPr b="1" sz="600">
                <a:solidFill>
                  <a:srgbClr val="0000FF"/>
                </a:solidFill>
              </a:endParaRPr>
            </a:p>
          </p:txBody>
        </p:sp>
        <p:sp>
          <p:nvSpPr>
            <p:cNvPr id="249" name="Google Shape;249;p58"/>
            <p:cNvSpPr txBox="1"/>
            <p:nvPr/>
          </p:nvSpPr>
          <p:spPr>
            <a:xfrm>
              <a:off x="3369502" y="4740290"/>
              <a:ext cx="2887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←</a:t>
              </a:r>
              <a:r>
                <a:rPr lang="en" sz="800"/>
                <a:t> </a:t>
              </a:r>
              <a:r>
                <a:rPr b="1" lang="en" sz="800"/>
                <a:t>  </a:t>
              </a:r>
              <a:r>
                <a:rPr i="1" lang="en" sz="800"/>
                <a:t>Raw, hands-on educational and research material</a:t>
              </a:r>
              <a:r>
                <a:rPr b="1" lang="en" sz="800"/>
                <a:t>  </a:t>
              </a:r>
              <a:r>
                <a:rPr lang="en" sz="1000"/>
                <a:t>→</a:t>
              </a:r>
              <a:endParaRPr sz="1000"/>
            </a:p>
          </p:txBody>
        </p:sp>
        <p:sp>
          <p:nvSpPr>
            <p:cNvPr id="250" name="Google Shape;250;p58"/>
            <p:cNvSpPr txBox="1"/>
            <p:nvPr/>
          </p:nvSpPr>
          <p:spPr>
            <a:xfrm>
              <a:off x="6595016" y="4567825"/>
              <a:ext cx="2344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>
                  <a:solidFill>
                    <a:srgbClr val="0000FF"/>
                  </a:solidFill>
                  <a:uFill>
                    <a:noFill/>
                  </a:uFill>
                  <a:hlinkClick r:id="rId1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https://github.com/arvidl/glioma-connectivity-and-cognition</a:t>
              </a:r>
              <a:endParaRPr b="1" sz="600">
                <a:solidFill>
                  <a:srgbClr val="0000FF"/>
                </a:solidFill>
              </a:endParaRPr>
            </a:p>
          </p:txBody>
        </p:sp>
      </p:grpSp>
      <p:pic>
        <p:nvPicPr>
          <p:cNvPr id="251" name="Google Shape;251;p5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041637" y="757294"/>
            <a:ext cx="991725" cy="99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9"/>
          <p:cNvSpPr txBox="1"/>
          <p:nvPr/>
        </p:nvSpPr>
        <p:spPr>
          <a:xfrm>
            <a:off x="2296427" y="2374125"/>
            <a:ext cx="4866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Motivation and Inspiration</a:t>
            </a:r>
            <a:endParaRPr b="1" sz="2600"/>
          </a:p>
        </p:txBody>
      </p:sp>
      <p:sp>
        <p:nvSpPr>
          <p:cNvPr id="257" name="Google Shape;257;p59"/>
          <p:cNvSpPr txBox="1"/>
          <p:nvPr/>
        </p:nvSpPr>
        <p:spPr>
          <a:xfrm>
            <a:off x="79950" y="785948"/>
            <a:ext cx="8984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D9D9D9"/>
                </a:solidFill>
              </a:rPr>
              <a:t>AI-assisted Glioma Research</a:t>
            </a:r>
            <a:r>
              <a:rPr b="1" i="0" lang="en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2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1600">
                <a:solidFill>
                  <a:srgbClr val="D9D9D9"/>
                </a:solidFill>
              </a:rPr>
              <a:t>Imaging, Tumor-Brain Interactions, and Cognition</a:t>
            </a:r>
            <a:endParaRPr b="0" i="0" sz="16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9"/>
          <p:cNvSpPr txBox="1"/>
          <p:nvPr/>
        </p:nvSpPr>
        <p:spPr>
          <a:xfrm>
            <a:off x="1123125" y="4504975"/>
            <a:ext cx="696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Understanding glioma through AI-assisted imaging and modeling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7950" y="4753975"/>
            <a:ext cx="475575" cy="12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60"/>
          <p:cNvGrpSpPr/>
          <p:nvPr/>
        </p:nvGrpSpPr>
        <p:grpSpPr>
          <a:xfrm>
            <a:off x="116150" y="-69713"/>
            <a:ext cx="2986851" cy="5286419"/>
            <a:chOff x="116150" y="-69713"/>
            <a:chExt cx="2986851" cy="5286419"/>
          </a:xfrm>
        </p:grpSpPr>
        <p:pic>
          <p:nvPicPr>
            <p:cNvPr id="265" name="Google Shape;265;p60"/>
            <p:cNvPicPr preferRelativeResize="0"/>
            <p:nvPr/>
          </p:nvPicPr>
          <p:blipFill rotWithShape="1">
            <a:blip r:embed="rId4">
              <a:alphaModFix/>
            </a:blip>
            <a:srcRect b="27620" l="0" r="0" t="0"/>
            <a:stretch/>
          </p:blipFill>
          <p:spPr>
            <a:xfrm>
              <a:off x="183375" y="949175"/>
              <a:ext cx="2310150" cy="2845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60"/>
            <p:cNvPicPr preferRelativeResize="0"/>
            <p:nvPr/>
          </p:nvPicPr>
          <p:blipFill rotWithShape="1">
            <a:blip r:embed="rId5">
              <a:alphaModFix/>
            </a:blip>
            <a:srcRect b="0" l="0" r="0" t="13051"/>
            <a:stretch/>
          </p:blipFill>
          <p:spPr>
            <a:xfrm>
              <a:off x="116150" y="123901"/>
              <a:ext cx="2310149" cy="82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60"/>
            <p:cNvSpPr txBox="1"/>
            <p:nvPr/>
          </p:nvSpPr>
          <p:spPr>
            <a:xfrm>
              <a:off x="1071082" y="-69713"/>
              <a:ext cx="15000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Nature 2023;617:469-471 [</a:t>
              </a:r>
              <a:r>
                <a:rPr lang="en" sz="700">
                  <a:solidFill>
                    <a:srgbClr val="0000FF"/>
                  </a:solidFill>
                  <a:uFill>
                    <a:noFill/>
                  </a:uFill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</a:t>
              </a:r>
              <a:r>
                <a:rPr lang="en" sz="700">
                  <a:solidFill>
                    <a:schemeClr val="dk1"/>
                  </a:solidFill>
                </a:rPr>
                <a:t>] </a:t>
              </a:r>
              <a:endParaRPr/>
            </a:p>
          </p:txBody>
        </p:sp>
        <p:sp>
          <p:nvSpPr>
            <p:cNvPr id="268" name="Google Shape;268;p60"/>
            <p:cNvSpPr txBox="1"/>
            <p:nvPr/>
          </p:nvSpPr>
          <p:spPr>
            <a:xfrm>
              <a:off x="126550" y="4801206"/>
              <a:ext cx="2421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00"/>
                <a:t>Figure 1 | Models for cognitive problems associated with brain tumours.</a:t>
              </a:r>
              <a:r>
                <a:rPr lang="en" sz="500"/>
                <a:t> The human brain contains regions that are important for language processing, such as an area on the left side of the brain.</a:t>
              </a:r>
              <a:endParaRPr sz="700"/>
            </a:p>
          </p:txBody>
        </p:sp>
        <p:grpSp>
          <p:nvGrpSpPr>
            <p:cNvPr id="269" name="Google Shape;269;p60"/>
            <p:cNvGrpSpPr/>
            <p:nvPr/>
          </p:nvGrpSpPr>
          <p:grpSpPr>
            <a:xfrm>
              <a:off x="183375" y="3755361"/>
              <a:ext cx="2919626" cy="1185123"/>
              <a:chOff x="183375" y="3755361"/>
              <a:chExt cx="2919626" cy="1185123"/>
            </a:xfrm>
          </p:grpSpPr>
          <p:pic>
            <p:nvPicPr>
              <p:cNvPr id="270" name="Google Shape;270;p6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71593"/>
              <a:stretch/>
            </p:blipFill>
            <p:spPr>
              <a:xfrm>
                <a:off x="183375" y="3755361"/>
                <a:ext cx="2310150" cy="11167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1" name="Google Shape;271;p60"/>
              <p:cNvSpPr txBox="1"/>
              <p:nvPr/>
            </p:nvSpPr>
            <p:spPr>
              <a:xfrm rot="1068776">
                <a:off x="1758869" y="4114250"/>
                <a:ext cx="1275864" cy="6465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Cancer </a:t>
                </a:r>
                <a:endParaRPr sz="1000"/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  neuro-</a:t>
                </a:r>
                <a:endParaRPr sz="1000"/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/>
                  <a:t>   science</a:t>
                </a:r>
                <a:endParaRPr sz="1000"/>
              </a:p>
            </p:txBody>
          </p:sp>
        </p:grpSp>
      </p:grpSp>
      <p:grpSp>
        <p:nvGrpSpPr>
          <p:cNvPr id="272" name="Google Shape;272;p60"/>
          <p:cNvGrpSpPr/>
          <p:nvPr/>
        </p:nvGrpSpPr>
        <p:grpSpPr>
          <a:xfrm>
            <a:off x="2491513" y="11732"/>
            <a:ext cx="3040812" cy="5182393"/>
            <a:chOff x="2491513" y="11732"/>
            <a:chExt cx="3040812" cy="5182393"/>
          </a:xfrm>
        </p:grpSpPr>
        <p:grpSp>
          <p:nvGrpSpPr>
            <p:cNvPr id="273" name="Google Shape;273;p60"/>
            <p:cNvGrpSpPr/>
            <p:nvPr/>
          </p:nvGrpSpPr>
          <p:grpSpPr>
            <a:xfrm>
              <a:off x="2703750" y="11732"/>
              <a:ext cx="2414974" cy="3140564"/>
              <a:chOff x="2703750" y="11732"/>
              <a:chExt cx="2414974" cy="3140564"/>
            </a:xfrm>
          </p:grpSpPr>
          <p:grpSp>
            <p:nvGrpSpPr>
              <p:cNvPr id="274" name="Google Shape;274;p60"/>
              <p:cNvGrpSpPr/>
              <p:nvPr/>
            </p:nvGrpSpPr>
            <p:grpSpPr>
              <a:xfrm>
                <a:off x="2703750" y="11732"/>
                <a:ext cx="2414974" cy="1192118"/>
                <a:chOff x="2703750" y="30500"/>
                <a:chExt cx="2414974" cy="1192118"/>
              </a:xfrm>
            </p:grpSpPr>
            <p:pic>
              <p:nvPicPr>
                <p:cNvPr id="275" name="Google Shape;275;p60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2703750" y="30504"/>
                  <a:ext cx="2414974" cy="11241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76" name="Google Shape;276;p60"/>
                <p:cNvPicPr preferRelativeResize="0"/>
                <p:nvPr/>
              </p:nvPicPr>
              <p:blipFill>
                <a:blip r:embed="rId8">
                  <a:alphaModFix/>
                </a:blip>
                <a:stretch>
                  <a:fillRect/>
                </a:stretch>
              </p:blipFill>
              <p:spPr>
                <a:xfrm>
                  <a:off x="4580400" y="54039"/>
                  <a:ext cx="479775" cy="10724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77" name="Google Shape;277;p60"/>
                <p:cNvPicPr preferRelativeResize="0"/>
                <p:nvPr/>
              </p:nvPicPr>
              <p:blipFill>
                <a:blip r:embed="rId9">
                  <a:alphaModFix/>
                </a:blip>
                <a:stretch>
                  <a:fillRect/>
                </a:stretch>
              </p:blipFill>
              <p:spPr>
                <a:xfrm>
                  <a:off x="4699348" y="30500"/>
                  <a:ext cx="241883" cy="1072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78" name="Google Shape;278;p60"/>
                <p:cNvPicPr preferRelativeResize="0"/>
                <p:nvPr/>
              </p:nvPicPr>
              <p:blipFill>
                <a:blip r:embed="rId8">
                  <a:alphaModFix/>
                </a:blip>
                <a:stretch>
                  <a:fillRect/>
                </a:stretch>
              </p:blipFill>
              <p:spPr>
                <a:xfrm>
                  <a:off x="3525175" y="1042702"/>
                  <a:ext cx="834800" cy="1072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9" name="Google Shape;279;p60"/>
                <p:cNvSpPr txBox="1"/>
                <p:nvPr/>
              </p:nvSpPr>
              <p:spPr>
                <a:xfrm>
                  <a:off x="3744300" y="961018"/>
                  <a:ext cx="1315800" cy="26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500">
                      <a:solidFill>
                        <a:srgbClr val="0000FF"/>
                      </a:solidFill>
                      <a:highlight>
                        <a:srgbClr val="FFFFFF"/>
                      </a:highlight>
                      <a:uFill>
                        <a:noFill/>
                      </a:uFill>
                      <a:hlinkClick r:id="rId10">
                        <a:extLst>
                          <a:ext uri="{A12FA001-AC4F-418D-AE19-62706E023703}">
                            <ahyp:hlinkClr val="tx"/>
                          </a:ext>
                        </a:extLst>
                      </a:hlinkClick>
                    </a:rPr>
                    <a:t>https://doi.org/10.1073/pnas.251317212</a:t>
                  </a:r>
                  <a:endParaRPr sz="500">
                    <a:solidFill>
                      <a:srgbClr val="0000FF"/>
                    </a:solidFill>
                  </a:endParaRPr>
                </a:p>
              </p:txBody>
            </p:sp>
          </p:grpSp>
          <p:grpSp>
            <p:nvGrpSpPr>
              <p:cNvPr id="280" name="Google Shape;280;p60"/>
              <p:cNvGrpSpPr/>
              <p:nvPr/>
            </p:nvGrpSpPr>
            <p:grpSpPr>
              <a:xfrm>
                <a:off x="2703750" y="1150725"/>
                <a:ext cx="2373074" cy="2001570"/>
                <a:chOff x="2703750" y="1150725"/>
                <a:chExt cx="2373074" cy="2001570"/>
              </a:xfrm>
            </p:grpSpPr>
            <p:grpSp>
              <p:nvGrpSpPr>
                <p:cNvPr id="281" name="Google Shape;281;p60"/>
                <p:cNvGrpSpPr/>
                <p:nvPr/>
              </p:nvGrpSpPr>
              <p:grpSpPr>
                <a:xfrm>
                  <a:off x="3176690" y="1501795"/>
                  <a:ext cx="1900135" cy="1650500"/>
                  <a:chOff x="3049865" y="1473689"/>
                  <a:chExt cx="1656324" cy="1438846"/>
                </a:xfrm>
              </p:grpSpPr>
              <p:pic>
                <p:nvPicPr>
                  <p:cNvPr id="282" name="Google Shape;282;p60"/>
                  <p:cNvPicPr preferRelativeResize="0"/>
                  <p:nvPr/>
                </p:nvPicPr>
                <p:blipFill>
                  <a:blip r:embed="rId11">
                    <a:alphaModFix/>
                  </a:blip>
                  <a:stretch>
                    <a:fillRect/>
                  </a:stretch>
                </p:blipFill>
                <p:spPr>
                  <a:xfrm flipH="1" rot="10800000">
                    <a:off x="3051640" y="1473689"/>
                    <a:ext cx="1635225" cy="732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83" name="Google Shape;283;p60"/>
                  <p:cNvPicPr preferRelativeResize="0"/>
                  <p:nvPr/>
                </p:nvPicPr>
                <p:blipFill>
                  <a:blip r:embed="rId12">
                    <a:alphaModFix/>
                  </a:blip>
                  <a:stretch>
                    <a:fillRect/>
                  </a:stretch>
                </p:blipFill>
                <p:spPr>
                  <a:xfrm flipH="1" rot="10800000">
                    <a:off x="3049865" y="2225036"/>
                    <a:ext cx="1656324" cy="6874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284" name="Google Shape;284;p60"/>
                <p:cNvPicPr preferRelativeResize="0"/>
                <p:nvPr/>
              </p:nvPicPr>
              <p:blipFill>
                <a:blip r:embed="rId13">
                  <a:alphaModFix/>
                </a:blip>
                <a:stretch>
                  <a:fillRect/>
                </a:stretch>
              </p:blipFill>
              <p:spPr>
                <a:xfrm>
                  <a:off x="3156075" y="1150725"/>
                  <a:ext cx="1737800" cy="3434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85" name="Google Shape;285;p60"/>
                <p:cNvSpPr txBox="1"/>
                <p:nvPr/>
              </p:nvSpPr>
              <p:spPr>
                <a:xfrm>
                  <a:off x="2703757" y="1708498"/>
                  <a:ext cx="346200" cy="30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/>
                    <a:t>T1</a:t>
                  </a:r>
                  <a:endParaRPr sz="800"/>
                </a:p>
              </p:txBody>
            </p:sp>
            <p:sp>
              <p:nvSpPr>
                <p:cNvPr id="286" name="Google Shape;286;p60"/>
                <p:cNvSpPr txBox="1"/>
                <p:nvPr/>
              </p:nvSpPr>
              <p:spPr>
                <a:xfrm>
                  <a:off x="2703750" y="2371763"/>
                  <a:ext cx="346200" cy="307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/>
                    <a:t>T2</a:t>
                  </a:r>
                  <a:endParaRPr sz="800"/>
                </a:p>
              </p:txBody>
            </p:sp>
          </p:grpSp>
        </p:grpSp>
        <p:grpSp>
          <p:nvGrpSpPr>
            <p:cNvPr id="287" name="Google Shape;287;p60"/>
            <p:cNvGrpSpPr/>
            <p:nvPr/>
          </p:nvGrpSpPr>
          <p:grpSpPr>
            <a:xfrm>
              <a:off x="2491513" y="3183926"/>
              <a:ext cx="3040812" cy="2010199"/>
              <a:chOff x="2491513" y="3183926"/>
              <a:chExt cx="3040812" cy="2010199"/>
            </a:xfrm>
          </p:grpSpPr>
          <p:sp>
            <p:nvSpPr>
              <p:cNvPr id="288" name="Google Shape;288;p60"/>
              <p:cNvSpPr txBox="1"/>
              <p:nvPr/>
            </p:nvSpPr>
            <p:spPr>
              <a:xfrm>
                <a:off x="2491525" y="4932525"/>
                <a:ext cx="3040800" cy="26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pc="21" sz="500"/>
                  <a:t>Figure 5 Solid stress promotes hypoxic and inflammatory gene expression programs in vivo.</a:t>
                </a:r>
                <a:endParaRPr sz="500"/>
              </a:p>
            </p:txBody>
          </p:sp>
          <p:pic>
            <p:nvPicPr>
              <p:cNvPr id="289" name="Google Shape;289;p60"/>
              <p:cNvPicPr preferRelativeResize="0"/>
              <p:nvPr/>
            </p:nvPicPr>
            <p:blipFill>
              <a:blip r:embed="rId14">
                <a:alphaModFix/>
              </a:blip>
              <a:stretch>
                <a:fillRect/>
              </a:stretch>
            </p:blipFill>
            <p:spPr>
              <a:xfrm>
                <a:off x="3148775" y="3386235"/>
                <a:ext cx="1969951" cy="155781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0" name="Google Shape;290;p60"/>
              <p:cNvPicPr preferRelativeResize="0"/>
              <p:nvPr/>
            </p:nvPicPr>
            <p:blipFill>
              <a:blip r:embed="rId15">
                <a:alphaModFix/>
              </a:blip>
              <a:stretch>
                <a:fillRect/>
              </a:stretch>
            </p:blipFill>
            <p:spPr>
              <a:xfrm>
                <a:off x="3495625" y="3183926"/>
                <a:ext cx="999875" cy="16786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1" name="Google Shape;291;p60"/>
              <p:cNvSpPr txBox="1"/>
              <p:nvPr/>
            </p:nvSpPr>
            <p:spPr>
              <a:xfrm>
                <a:off x="2491513" y="4164718"/>
                <a:ext cx="736800" cy="8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pc="21" sz="400"/>
                  <a:t>Spearman correlation matrix showing a negative relationship between the solid stress response and synapse maintenance gene expression programs in excitatory neurons from GBM patients.</a:t>
                </a:r>
                <a:endParaRPr sz="400"/>
              </a:p>
            </p:txBody>
          </p:sp>
          <p:sp>
            <p:nvSpPr>
              <p:cNvPr id="292" name="Google Shape;292;p60"/>
              <p:cNvSpPr txBox="1"/>
              <p:nvPr/>
            </p:nvSpPr>
            <p:spPr>
              <a:xfrm>
                <a:off x="2503750" y="3484666"/>
                <a:ext cx="6729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pc="21" sz="400"/>
                  <a:t>Jaccard similarity matrix shows overlap between our solid stress response signature and Gene Ontology gene sets related to other stressors.</a:t>
                </a:r>
                <a:endParaRPr sz="400"/>
              </a:p>
            </p:txBody>
          </p:sp>
        </p:grpSp>
      </p:grpSp>
      <p:grpSp>
        <p:nvGrpSpPr>
          <p:cNvPr id="293" name="Google Shape;293;p60"/>
          <p:cNvGrpSpPr/>
          <p:nvPr/>
        </p:nvGrpSpPr>
        <p:grpSpPr>
          <a:xfrm>
            <a:off x="5251400" y="-29400"/>
            <a:ext cx="3874075" cy="5230049"/>
            <a:chOff x="5251400" y="-29400"/>
            <a:chExt cx="3874075" cy="5230049"/>
          </a:xfrm>
        </p:grpSpPr>
        <p:grpSp>
          <p:nvGrpSpPr>
            <p:cNvPr id="294" name="Google Shape;294;p60"/>
            <p:cNvGrpSpPr/>
            <p:nvPr/>
          </p:nvGrpSpPr>
          <p:grpSpPr>
            <a:xfrm>
              <a:off x="5251400" y="-29400"/>
              <a:ext cx="3874075" cy="2900647"/>
              <a:chOff x="5251400" y="-29400"/>
              <a:chExt cx="3874075" cy="2900647"/>
            </a:xfrm>
          </p:grpSpPr>
          <p:grpSp>
            <p:nvGrpSpPr>
              <p:cNvPr id="295" name="Google Shape;295;p60"/>
              <p:cNvGrpSpPr/>
              <p:nvPr/>
            </p:nvGrpSpPr>
            <p:grpSpPr>
              <a:xfrm>
                <a:off x="5251400" y="-29400"/>
                <a:ext cx="3874074" cy="756275"/>
                <a:chOff x="5251400" y="-29400"/>
                <a:chExt cx="3874074" cy="756275"/>
              </a:xfrm>
            </p:grpSpPr>
            <p:pic>
              <p:nvPicPr>
                <p:cNvPr id="296" name="Google Shape;296;p60"/>
                <p:cNvPicPr preferRelativeResize="0"/>
                <p:nvPr/>
              </p:nvPicPr>
              <p:blipFill>
                <a:blip r:embed="rId16">
                  <a:alphaModFix/>
                </a:blip>
                <a:stretch>
                  <a:fillRect/>
                </a:stretch>
              </p:blipFill>
              <p:spPr>
                <a:xfrm>
                  <a:off x="5251400" y="161800"/>
                  <a:ext cx="3874074" cy="565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7" name="Google Shape;297;p60"/>
                <p:cNvPicPr preferRelativeResize="0"/>
                <p:nvPr/>
              </p:nvPicPr>
              <p:blipFill>
                <a:blip r:embed="rId17">
                  <a:alphaModFix/>
                </a:blip>
                <a:stretch>
                  <a:fillRect/>
                </a:stretch>
              </p:blipFill>
              <p:spPr>
                <a:xfrm>
                  <a:off x="7302133" y="53652"/>
                  <a:ext cx="1777675" cy="1264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98" name="Google Shape;298;p60"/>
                <p:cNvSpPr txBox="1"/>
                <p:nvPr/>
              </p:nvSpPr>
              <p:spPr>
                <a:xfrm>
                  <a:off x="6863200" y="-29400"/>
                  <a:ext cx="391500" cy="292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00"/>
                    <a:t>[</a:t>
                  </a:r>
                  <a:r>
                    <a:rPr lang="en" sz="700">
                      <a:solidFill>
                        <a:srgbClr val="0000FF"/>
                      </a:solidFill>
                      <a:uFill>
                        <a:noFill/>
                      </a:uFill>
                      <a:hlinkClick r:id="rId18">
                        <a:extLst>
                          <a:ext uri="{A12FA001-AC4F-418D-AE19-62706E023703}">
                            <ahyp:hlinkClr val="tx"/>
                          </a:ext>
                        </a:extLst>
                      </a:hlinkClick>
                    </a:rPr>
                    <a:t>link</a:t>
                  </a:r>
                  <a:r>
                    <a:rPr lang="en" sz="700"/>
                    <a:t>]</a:t>
                  </a:r>
                  <a:endParaRPr sz="700"/>
                </a:p>
              </p:txBody>
            </p:sp>
          </p:grpSp>
          <p:pic>
            <p:nvPicPr>
              <p:cNvPr id="299" name="Google Shape;299;p60"/>
              <p:cNvPicPr preferRelativeResize="0"/>
              <p:nvPr/>
            </p:nvPicPr>
            <p:blipFill>
              <a:blip r:embed="rId19">
                <a:alphaModFix/>
              </a:blip>
              <a:stretch>
                <a:fillRect/>
              </a:stretch>
            </p:blipFill>
            <p:spPr>
              <a:xfrm>
                <a:off x="5251400" y="890524"/>
                <a:ext cx="3663051" cy="1980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0" name="Google Shape;300;p60"/>
            <p:cNvGrpSpPr/>
            <p:nvPr/>
          </p:nvGrpSpPr>
          <p:grpSpPr>
            <a:xfrm>
              <a:off x="5482050" y="2965252"/>
              <a:ext cx="3412768" cy="2235397"/>
              <a:chOff x="5482050" y="2965252"/>
              <a:chExt cx="3412768" cy="2235397"/>
            </a:xfrm>
          </p:grpSpPr>
          <p:pic>
            <p:nvPicPr>
              <p:cNvPr id="301" name="Google Shape;301;p60"/>
              <p:cNvPicPr preferRelativeResize="0"/>
              <p:nvPr/>
            </p:nvPicPr>
            <p:blipFill>
              <a:blip r:embed="rId20">
                <a:alphaModFix/>
              </a:blip>
              <a:stretch>
                <a:fillRect/>
              </a:stretch>
            </p:blipFill>
            <p:spPr>
              <a:xfrm>
                <a:off x="5482050" y="2965252"/>
                <a:ext cx="3412768" cy="20101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2" name="Google Shape;302;p60"/>
              <p:cNvSpPr txBox="1"/>
              <p:nvPr/>
            </p:nvSpPr>
            <p:spPr>
              <a:xfrm>
                <a:off x="5727569" y="4939049"/>
                <a:ext cx="3000000" cy="26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/>
                  <a:t>Figure 4. Tumour location and anatomical neighbourhoods from the study UCSF-PDGM-0020.</a:t>
                </a:r>
                <a:endParaRPr sz="500"/>
              </a:p>
            </p:txBody>
          </p:sp>
        </p:grpSp>
        <p:grpSp>
          <p:nvGrpSpPr>
            <p:cNvPr id="303" name="Google Shape;303;p60"/>
            <p:cNvGrpSpPr/>
            <p:nvPr/>
          </p:nvGrpSpPr>
          <p:grpSpPr>
            <a:xfrm>
              <a:off x="5271313" y="755618"/>
              <a:ext cx="3742289" cy="2193255"/>
              <a:chOff x="5261319" y="755618"/>
              <a:chExt cx="3742289" cy="2193255"/>
            </a:xfrm>
          </p:grpSpPr>
          <p:pic>
            <p:nvPicPr>
              <p:cNvPr id="304" name="Google Shape;304;p60"/>
              <p:cNvPicPr preferRelativeResize="0"/>
              <p:nvPr/>
            </p:nvPicPr>
            <p:blipFill>
              <a:blip r:embed="rId21">
                <a:alphaModFix/>
              </a:blip>
              <a:stretch>
                <a:fillRect/>
              </a:stretch>
            </p:blipFill>
            <p:spPr>
              <a:xfrm>
                <a:off x="5261319" y="755618"/>
                <a:ext cx="3663048" cy="21932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5" name="Google Shape;305;p60"/>
              <p:cNvSpPr txBox="1"/>
              <p:nvPr/>
            </p:nvSpPr>
            <p:spPr>
              <a:xfrm rot="-2350419">
                <a:off x="7045787" y="1885482"/>
                <a:ext cx="2058344" cy="414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/>
                  <a:t>Tumor volume intersection with brain structures</a:t>
                </a:r>
                <a:endParaRPr sz="600"/>
              </a:p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/>
                  <a:t>“Hit Plots”</a:t>
                </a:r>
                <a:endParaRPr sz="800"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1"/>
          <p:cNvSpPr txBox="1"/>
          <p:nvPr/>
        </p:nvSpPr>
        <p:spPr>
          <a:xfrm>
            <a:off x="6868275" y="4880200"/>
            <a:ext cx="2213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0000FF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https://www.aimspress.com/article/10.3934/mbe.2020207</a:t>
            </a:r>
            <a:endParaRPr sz="600">
              <a:solidFill>
                <a:srgbClr val="0000FF"/>
              </a:solidFill>
            </a:endParaRPr>
          </a:p>
        </p:txBody>
      </p:sp>
      <p:sp>
        <p:nvSpPr>
          <p:cNvPr id="311" name="Google Shape;311;p61"/>
          <p:cNvSpPr txBox="1"/>
          <p:nvPr/>
        </p:nvSpPr>
        <p:spPr>
          <a:xfrm>
            <a:off x="357150" y="487650"/>
            <a:ext cx="8542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</a:t>
            </a:r>
            <a:r>
              <a:rPr lang="en" sz="1500"/>
              <a:t> </a:t>
            </a:r>
            <a:r>
              <a:rPr b="1" lang="en" sz="1500"/>
              <a:t>go-or-grow </a:t>
            </a:r>
            <a:r>
              <a:rPr lang="en" sz="1500">
                <a:solidFill>
                  <a:schemeClr val="dk1"/>
                </a:solidFill>
              </a:rPr>
              <a:t>hypothesis* </a:t>
            </a:r>
            <a:endParaRPr sz="1200"/>
          </a:p>
        </p:txBody>
      </p:sp>
      <p:sp>
        <p:nvSpPr>
          <p:cNvPr id="312" name="Google Shape;312;p61"/>
          <p:cNvSpPr txBox="1"/>
          <p:nvPr/>
        </p:nvSpPr>
        <p:spPr>
          <a:xfrm>
            <a:off x="2064225" y="34000"/>
            <a:ext cx="489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Biophysics modeling of tumor growth </a:t>
            </a:r>
            <a:endParaRPr sz="1800"/>
          </a:p>
        </p:txBody>
      </p:sp>
      <p:sp>
        <p:nvSpPr>
          <p:cNvPr id="313" name="Google Shape;313;p61"/>
          <p:cNvSpPr txBox="1"/>
          <p:nvPr/>
        </p:nvSpPr>
        <p:spPr>
          <a:xfrm>
            <a:off x="132100" y="4662900"/>
            <a:ext cx="747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</a:t>
            </a:r>
            <a:r>
              <a:rPr lang="en" sz="1200"/>
              <a:t>*</a:t>
            </a:r>
            <a:r>
              <a:rPr lang="en" sz="700"/>
              <a:t>H. Hatzikirou et al. </a:t>
            </a:r>
            <a:r>
              <a:rPr lang="en" sz="700">
                <a:highlight>
                  <a:srgbClr val="FFFFFF"/>
                </a:highlight>
              </a:rPr>
              <a:t>'Go or grow': the key to the emergence of invasion in tumour progression? </a:t>
            </a:r>
            <a:r>
              <a:rPr i="1" lang="en" sz="700">
                <a:highlight>
                  <a:srgbClr val="FFFFFF"/>
                </a:highlight>
              </a:rPr>
              <a:t>Mathematical Medicine and Biology </a:t>
            </a:r>
            <a:r>
              <a:rPr lang="en" sz="700">
                <a:highlight>
                  <a:srgbClr val="FFFFFF"/>
                </a:highlight>
              </a:rPr>
              <a:t>2012;29(1):49-65.</a:t>
            </a:r>
            <a:endParaRPr sz="7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33333"/>
                </a:solidFill>
                <a:highlight>
                  <a:srgbClr val="FFFFFF"/>
                </a:highlight>
              </a:rPr>
              <a:t>     </a:t>
            </a:r>
            <a:r>
              <a:rPr lang="en" sz="1000">
                <a:solidFill>
                  <a:schemeClr val="dk1"/>
                </a:solidFill>
              </a:rPr>
              <a:t>**</a:t>
            </a:r>
            <a:r>
              <a:rPr lang="en" sz="700">
                <a:highlight>
                  <a:srgbClr val="FFFFFF"/>
                </a:highlight>
              </a:rPr>
              <a:t>R. Everett et al. A tutorial review of mathematical techniques for quantifying tumor heterogeneity. </a:t>
            </a:r>
            <a:r>
              <a:rPr i="1" lang="en" sz="700">
                <a:highlight>
                  <a:srgbClr val="FFFFFF"/>
                </a:highlight>
                <a:uFill>
                  <a:noFill/>
                </a:uFill>
                <a:hlinkClick r:id="rId4"/>
              </a:rPr>
              <a:t>Mathematical Biosciences and Engineering</a:t>
            </a:r>
            <a:r>
              <a:rPr i="1" lang="en" sz="700">
                <a:highlight>
                  <a:srgbClr val="FFFFFF"/>
                </a:highlight>
              </a:rPr>
              <a:t> </a:t>
            </a:r>
            <a:r>
              <a:rPr lang="en" sz="700">
                <a:highlight>
                  <a:srgbClr val="FFFFFF"/>
                </a:highlight>
              </a:rPr>
              <a:t>2020;</a:t>
            </a:r>
            <a:r>
              <a:rPr lang="en" sz="700">
                <a:highlight>
                  <a:srgbClr val="FFFFFF"/>
                </a:highlight>
                <a:uFill>
                  <a:noFill/>
                </a:uFill>
                <a:hlinkClick r:id="rId5"/>
              </a:rPr>
              <a:t>1</a:t>
            </a:r>
            <a:r>
              <a:rPr lang="en" sz="700">
                <a:highlight>
                  <a:srgbClr val="FFFFFF"/>
                </a:highlight>
              </a:rPr>
              <a:t>7(4):3660-3709</a:t>
            </a:r>
            <a:endParaRPr sz="700">
              <a:solidFill>
                <a:srgbClr val="2A2A2A"/>
              </a:solidFill>
              <a:highlight>
                <a:srgbClr val="FFFFFF"/>
              </a:highlight>
            </a:endParaRPr>
          </a:p>
        </p:txBody>
      </p:sp>
      <p:grpSp>
        <p:nvGrpSpPr>
          <p:cNvPr id="314" name="Google Shape;314;p61"/>
          <p:cNvGrpSpPr/>
          <p:nvPr/>
        </p:nvGrpSpPr>
        <p:grpSpPr>
          <a:xfrm>
            <a:off x="177125" y="2237850"/>
            <a:ext cx="8730375" cy="2484300"/>
            <a:chOff x="177125" y="2237850"/>
            <a:chExt cx="8730375" cy="2484300"/>
          </a:xfrm>
        </p:grpSpPr>
        <p:sp>
          <p:nvSpPr>
            <p:cNvPr id="315" name="Google Shape;315;p61"/>
            <p:cNvSpPr/>
            <p:nvPr/>
          </p:nvSpPr>
          <p:spPr>
            <a:xfrm>
              <a:off x="177125" y="2237850"/>
              <a:ext cx="8722200" cy="2484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61"/>
            <p:cNvSpPr txBox="1"/>
            <p:nvPr/>
          </p:nvSpPr>
          <p:spPr>
            <a:xfrm>
              <a:off x="370400" y="2393450"/>
              <a:ext cx="85371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The </a:t>
              </a:r>
              <a:r>
                <a:rPr lang="en" sz="1200">
                  <a:solidFill>
                    <a:srgbClr val="0000FF"/>
                  </a:solidFill>
                  <a:uFill>
                    <a:noFill/>
                  </a:uFill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Fisher-KPP model</a:t>
              </a:r>
              <a:r>
                <a:rPr lang="en" sz="1200"/>
                <a:t> for tumor growth in the absence of treatment takes the form of a nonlinear </a:t>
              </a:r>
              <a:r>
                <a:rPr b="1" lang="en" sz="1200"/>
                <a:t>reaction-diffusion type</a:t>
              </a:r>
              <a:r>
                <a:rPr lang="en" sz="1200"/>
                <a:t> Partial Differential Equation (PDE) for a </a:t>
              </a:r>
              <a:r>
                <a:rPr b="1" lang="en" sz="1200"/>
                <a:t>density of tumor cells </a:t>
              </a:r>
              <a:r>
                <a:rPr b="1" i="1" lang="en" sz="1200"/>
                <a:t>n </a:t>
              </a:r>
              <a:r>
                <a:rPr b="1" lang="en" sz="1200"/>
                <a:t>= </a:t>
              </a:r>
              <a:r>
                <a:rPr b="1" i="1" lang="en" sz="1200"/>
                <a:t>n</a:t>
              </a:r>
              <a:r>
                <a:rPr b="1" lang="en" sz="1200"/>
                <a:t>(</a:t>
              </a:r>
              <a:r>
                <a:rPr b="1" i="1" lang="en" sz="1200"/>
                <a:t>x</a:t>
              </a:r>
              <a:r>
                <a:rPr b="1" lang="en" sz="1200"/>
                <a:t>,</a:t>
              </a:r>
              <a:r>
                <a:rPr b="1" i="1" lang="en" sz="1200"/>
                <a:t>t</a:t>
              </a:r>
              <a:r>
                <a:rPr b="1" lang="en" sz="1200"/>
                <a:t>)</a:t>
              </a:r>
              <a:r>
                <a:rPr lang="en" sz="1200"/>
                <a:t>  </a:t>
              </a:r>
              <a:r>
                <a:rPr lang="en" sz="1100"/>
                <a:t> </a:t>
              </a:r>
              <a:r>
                <a:rPr lang="en" sz="1200"/>
                <a:t>(units number per unit volume): </a:t>
              </a:r>
              <a:endParaRPr sz="1100"/>
            </a:p>
          </p:txBody>
        </p:sp>
        <p:pic>
          <p:nvPicPr>
            <p:cNvPr id="317" name="Google Shape;317;p6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45625" y="3051351"/>
              <a:ext cx="6548977" cy="1576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" name="Google Shape;318;p61"/>
            <p:cNvSpPr txBox="1"/>
            <p:nvPr/>
          </p:nvSpPr>
          <p:spPr>
            <a:xfrm>
              <a:off x="2570025" y="2879750"/>
              <a:ext cx="561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800" u="sng"/>
                <a:t>diffusion</a:t>
              </a:r>
              <a:endParaRPr i="1" sz="800" u="sng"/>
            </a:p>
          </p:txBody>
        </p:sp>
        <p:sp>
          <p:nvSpPr>
            <p:cNvPr id="319" name="Google Shape;319;p61"/>
            <p:cNvSpPr txBox="1"/>
            <p:nvPr/>
          </p:nvSpPr>
          <p:spPr>
            <a:xfrm>
              <a:off x="3218950" y="2879750"/>
              <a:ext cx="8499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800" u="sng"/>
                <a:t>logistic growth</a:t>
              </a:r>
              <a:endParaRPr i="1" sz="800" u="sng"/>
            </a:p>
          </p:txBody>
        </p:sp>
        <p:sp>
          <p:nvSpPr>
            <p:cNvPr id="320" name="Google Shape;320;p61"/>
            <p:cNvSpPr txBox="1"/>
            <p:nvPr/>
          </p:nvSpPr>
          <p:spPr>
            <a:xfrm>
              <a:off x="3784500" y="3609175"/>
              <a:ext cx="15750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zero flux boundary condition</a:t>
              </a:r>
              <a:endParaRPr sz="800"/>
            </a:p>
          </p:txBody>
        </p:sp>
        <p:sp>
          <p:nvSpPr>
            <p:cNvPr id="321" name="Google Shape;321;p61"/>
            <p:cNvSpPr txBox="1"/>
            <p:nvPr/>
          </p:nvSpPr>
          <p:spPr>
            <a:xfrm>
              <a:off x="3784500" y="3380575"/>
              <a:ext cx="1575000" cy="307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/>
                <a:t>initial condition at time t=0</a:t>
              </a:r>
              <a:endParaRPr sz="800"/>
            </a:p>
          </p:txBody>
        </p:sp>
        <p:sp>
          <p:nvSpPr>
            <p:cNvPr id="322" name="Google Shape;322;p61"/>
            <p:cNvSpPr txBox="1"/>
            <p:nvPr/>
          </p:nvSpPr>
          <p:spPr>
            <a:xfrm>
              <a:off x="922775" y="2279650"/>
              <a:ext cx="16473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/>
                <a:t>Kolmogorov, Petrovsky, Piskunov (1937)</a:t>
              </a:r>
              <a:endParaRPr sz="600"/>
            </a:p>
          </p:txBody>
        </p:sp>
        <p:sp>
          <p:nvSpPr>
            <p:cNvPr id="323" name="Google Shape;323;p61"/>
            <p:cNvSpPr txBox="1"/>
            <p:nvPr/>
          </p:nvSpPr>
          <p:spPr>
            <a:xfrm>
              <a:off x="5610650" y="3172825"/>
              <a:ext cx="3033900" cy="723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/>
                <a:t>The first term with </a:t>
              </a:r>
              <a:r>
                <a:rPr b="1" i="1" lang="en" sz="700"/>
                <a:t>D</a:t>
              </a:r>
              <a:r>
                <a:rPr lang="en" sz="700"/>
                <a:t> is a diffusion operator that models the </a:t>
              </a:r>
              <a:r>
                <a:rPr b="1" lang="en" sz="700"/>
                <a:t>migration</a:t>
              </a:r>
              <a:r>
                <a:rPr lang="en" sz="700"/>
                <a:t> of cancerous cells into surrounding healthy tissue.</a:t>
              </a:r>
              <a:endParaRPr sz="7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/>
                <a:t>The second term with </a:t>
              </a:r>
              <a:r>
                <a:rPr b="1" lang="en" sz="700"/>
                <a:t>ρ </a:t>
              </a:r>
              <a:r>
                <a:rPr lang="en" sz="700"/>
                <a:t>models the </a:t>
              </a:r>
              <a:r>
                <a:rPr b="1" lang="en" sz="700"/>
                <a:t>proliferation</a:t>
              </a:r>
              <a:r>
                <a:rPr lang="en" sz="700"/>
                <a:t> of tumor cells that can be a logistic growth function</a:t>
              </a:r>
              <a:endParaRPr sz="700"/>
            </a:p>
          </p:txBody>
        </p:sp>
      </p:grpSp>
      <p:sp>
        <p:nvSpPr>
          <p:cNvPr id="324" name="Google Shape;324;p61"/>
          <p:cNvSpPr txBox="1"/>
          <p:nvPr/>
        </p:nvSpPr>
        <p:spPr>
          <a:xfrm>
            <a:off x="509550" y="868650"/>
            <a:ext cx="849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Tumor progression as a cycle of two phases: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An initially exclusively </a:t>
            </a:r>
            <a:r>
              <a:rPr lang="en" sz="1200" u="sng"/>
              <a:t>proliferative phase </a:t>
            </a:r>
            <a:r>
              <a:rPr lang="en" sz="1200"/>
              <a:t>followed by an </a:t>
            </a:r>
            <a:r>
              <a:rPr lang="en" sz="1200" u="sng"/>
              <a:t>invasion</a:t>
            </a:r>
            <a:r>
              <a:rPr lang="en" sz="1200"/>
              <a:t> of tumor cells into surrounding tissues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This second phase can then possibly transition back to a proliferating phenotype, which encourages recurrence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    and growth of metastatic tumors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2"/>
          <p:cNvSpPr txBox="1"/>
          <p:nvPr/>
        </p:nvSpPr>
        <p:spPr>
          <a:xfrm>
            <a:off x="186235" y="2701"/>
            <a:ext cx="773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Towards AI-driven personalized treatment planning of glioma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62"/>
          <p:cNvSpPr txBox="1"/>
          <p:nvPr/>
        </p:nvSpPr>
        <p:spPr>
          <a:xfrm>
            <a:off x="508875" y="4835700"/>
            <a:ext cx="852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S. Khalighi et al. Artificial intelligence in neuro-oncology: Advances and challenges in brain tumor diagnosis, prognosis, and precision treatment, npj Precision Oncology 2024;8:80 [</a:t>
            </a:r>
            <a:r>
              <a:rPr b="0" i="0" lang="en" sz="800" u="none" cap="none" strike="noStrike">
                <a:solidFill>
                  <a:srgbClr val="0000FF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62"/>
          <p:cNvSpPr txBox="1"/>
          <p:nvPr/>
        </p:nvSpPr>
        <p:spPr>
          <a:xfrm>
            <a:off x="191110" y="1154625"/>
            <a:ext cx="1830900" cy="145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Precision segmentation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- surgical resection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+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- radiation planning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(proton therapy)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1200" y="547125"/>
            <a:ext cx="6598794" cy="428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62"/>
          <p:cNvSpPr/>
          <p:nvPr/>
        </p:nvSpPr>
        <p:spPr>
          <a:xfrm>
            <a:off x="3750225" y="2246650"/>
            <a:ext cx="818700" cy="7431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62"/>
          <p:cNvSpPr/>
          <p:nvPr/>
        </p:nvSpPr>
        <p:spPr>
          <a:xfrm>
            <a:off x="4664625" y="1941850"/>
            <a:ext cx="818700" cy="7431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2"/>
          <p:cNvSpPr/>
          <p:nvPr/>
        </p:nvSpPr>
        <p:spPr>
          <a:xfrm>
            <a:off x="3430200" y="3105850"/>
            <a:ext cx="1051500" cy="9171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62"/>
          <p:cNvSpPr/>
          <p:nvPr/>
        </p:nvSpPr>
        <p:spPr>
          <a:xfrm>
            <a:off x="6036225" y="2246650"/>
            <a:ext cx="872100" cy="7431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62"/>
          <p:cNvSpPr/>
          <p:nvPr/>
        </p:nvSpPr>
        <p:spPr>
          <a:xfrm>
            <a:off x="6112425" y="3198725"/>
            <a:ext cx="818700" cy="7815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8150" y="4562325"/>
            <a:ext cx="2033150" cy="2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3"/>
          <p:cNvSpPr/>
          <p:nvPr/>
        </p:nvSpPr>
        <p:spPr>
          <a:xfrm>
            <a:off x="171450" y="157163"/>
            <a:ext cx="880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73E43"/>
                </a:solidFill>
                <a:latin typeface="Arial"/>
                <a:ea typeface="Arial"/>
                <a:cs typeface="Arial"/>
                <a:sym typeface="Arial"/>
              </a:rPr>
              <a:t>Our imaging foundation: compartments and anatomy</a:t>
            </a:r>
            <a:endParaRPr sz="1100"/>
          </a:p>
        </p:txBody>
      </p:sp>
      <p:pic>
        <p:nvPicPr>
          <p:cNvPr id="345" name="Google Shape;34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" y="721322"/>
            <a:ext cx="5772150" cy="3250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63"/>
          <p:cNvSpPr/>
          <p:nvPr/>
        </p:nvSpPr>
        <p:spPr>
          <a:xfrm>
            <a:off x="860121" y="4228813"/>
            <a:ext cx="5278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Lundervold et al. 2026, Fig. 1, CC BY 4.0. UCSF-PDGM-0085; reference-mask illustration</a:t>
            </a:r>
            <a:endParaRPr sz="1000"/>
          </a:p>
        </p:txBody>
      </p:sp>
      <p:sp>
        <p:nvSpPr>
          <p:cNvPr id="347" name="Google Shape;347;p63"/>
          <p:cNvSpPr/>
          <p:nvPr/>
        </p:nvSpPr>
        <p:spPr>
          <a:xfrm>
            <a:off x="7326419" y="4829175"/>
            <a:ext cx="16473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AI-assisted G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lioma </a:t>
            </a:r>
            <a:r>
              <a:rPr lang="en" sz="900"/>
              <a:t>R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esearch </a:t>
            </a:r>
            <a:endParaRPr sz="900"/>
          </a:p>
        </p:txBody>
      </p:sp>
      <p:grpSp>
        <p:nvGrpSpPr>
          <p:cNvPr id="348" name="Google Shape;348;p63"/>
          <p:cNvGrpSpPr/>
          <p:nvPr/>
        </p:nvGrpSpPr>
        <p:grpSpPr>
          <a:xfrm>
            <a:off x="214242" y="1185863"/>
            <a:ext cx="8821583" cy="3818856"/>
            <a:chOff x="214242" y="1185863"/>
            <a:chExt cx="8821583" cy="3818856"/>
          </a:xfrm>
        </p:grpSpPr>
        <p:sp>
          <p:nvSpPr>
            <p:cNvPr id="349" name="Google Shape;349;p63"/>
            <p:cNvSpPr/>
            <p:nvPr/>
          </p:nvSpPr>
          <p:spPr>
            <a:xfrm>
              <a:off x="6500813" y="1185863"/>
              <a:ext cx="2171700" cy="2714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T1, T1c, T2, FLAIR</a:t>
              </a:r>
              <a:endParaRPr sz="1100"/>
            </a:p>
          </p:txBody>
        </p:sp>
        <p:sp>
          <p:nvSpPr>
            <p:cNvPr id="350" name="Google Shape;350;p63"/>
            <p:cNvSpPr/>
            <p:nvPr/>
          </p:nvSpPr>
          <p:spPr>
            <a:xfrm>
              <a:off x="6500813" y="1635919"/>
              <a:ext cx="21717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Trained imaging AI</a:t>
              </a:r>
              <a:endParaRPr sz="1100"/>
            </a:p>
          </p:txBody>
        </p:sp>
        <p:sp>
          <p:nvSpPr>
            <p:cNvPr id="351" name="Google Shape;351;p63"/>
            <p:cNvSpPr/>
            <p:nvPr/>
          </p:nvSpPr>
          <p:spPr>
            <a:xfrm>
              <a:off x="6500813" y="1928813"/>
              <a:ext cx="21717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MONAI SegResNet</a:t>
              </a:r>
              <a:endParaRPr sz="1100"/>
            </a:p>
          </p:txBody>
        </p:sp>
        <p:sp>
          <p:nvSpPr>
            <p:cNvPr id="352" name="Google Shape;352;p63"/>
            <p:cNvSpPr/>
            <p:nvPr/>
          </p:nvSpPr>
          <p:spPr>
            <a:xfrm>
              <a:off x="6716116" y="2648837"/>
              <a:ext cx="656100" cy="9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NCR</a:t>
              </a:r>
              <a:endParaRPr sz="1200">
                <a:solidFill>
                  <a:srgbClr val="173E43"/>
                </a:solidFill>
              </a:endParaRPr>
            </a:p>
            <a:p>
              <a:pPr indent="0" lvl="0" marL="0" marR="0" rtl="0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ED</a:t>
              </a:r>
              <a:endParaRPr sz="1200">
                <a:solidFill>
                  <a:srgbClr val="173E43"/>
                </a:solidFill>
              </a:endParaRPr>
            </a:p>
            <a:p>
              <a:pPr indent="0" lvl="0" marL="0" marR="0" rtl="0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ET</a:t>
              </a:r>
              <a:endParaRPr sz="1100"/>
            </a:p>
          </p:txBody>
        </p:sp>
        <p:sp>
          <p:nvSpPr>
            <p:cNvPr id="353" name="Google Shape;353;p63"/>
            <p:cNvSpPr/>
            <p:nvPr/>
          </p:nvSpPr>
          <p:spPr>
            <a:xfrm>
              <a:off x="6500813" y="3618281"/>
              <a:ext cx="2171700" cy="2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FreeSurfer anatomy</a:t>
              </a:r>
              <a:endParaRPr sz="1100"/>
            </a:p>
          </p:txBody>
        </p:sp>
        <p:sp>
          <p:nvSpPr>
            <p:cNvPr id="354" name="Google Shape;354;p63"/>
            <p:cNvSpPr/>
            <p:nvPr/>
          </p:nvSpPr>
          <p:spPr>
            <a:xfrm>
              <a:off x="6500825" y="4215625"/>
              <a:ext cx="25350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Regional overlap</a:t>
              </a:r>
              <a:r>
                <a:rPr lang="en" sz="1100"/>
                <a:t> </a:t>
              </a: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volumes</a:t>
              </a:r>
              <a:endParaRPr sz="1100"/>
            </a:p>
          </p:txBody>
        </p:sp>
        <p:sp>
          <p:nvSpPr>
            <p:cNvPr id="355" name="Google Shape;355;p63"/>
            <p:cNvSpPr/>
            <p:nvPr/>
          </p:nvSpPr>
          <p:spPr>
            <a:xfrm>
              <a:off x="214242" y="4776119"/>
              <a:ext cx="6205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 </a:t>
              </a:r>
              <a:r>
                <a:rPr b="1" lang="en" sz="1000"/>
                <a:t>Paper</a:t>
              </a:r>
              <a:r>
                <a:rPr lang="en" sz="1000"/>
                <a:t>:  </a:t>
              </a:r>
              <a:r>
                <a:rPr lang="en" sz="1000">
                  <a:solidFill>
                    <a:srgbClr val="0000FF"/>
                  </a:solidFill>
                  <a:uFill>
                    <a:noFill/>
                  </a:u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Published feasibility study</a:t>
              </a:r>
              <a:r>
                <a:rPr lang="en" sz="1000">
                  <a:solidFill>
                    <a:srgbClr val="31858F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n" sz="1000">
                  <a:latin typeface="Arial"/>
                  <a:ea typeface="Arial"/>
                  <a:cs typeface="Arial"/>
                  <a:sym typeface="Arial"/>
                </a:rPr>
                <a:t>&amp;  </a:t>
              </a:r>
              <a:r>
                <a:rPr b="1" lang="en" sz="1000"/>
                <a:t>Code</a:t>
              </a:r>
              <a:r>
                <a:rPr lang="en" sz="1000">
                  <a:latin typeface="Arial"/>
                  <a:ea typeface="Arial"/>
                  <a:cs typeface="Arial"/>
                  <a:sym typeface="Arial"/>
                </a:rPr>
                <a:t>: </a:t>
              </a:r>
              <a:r>
                <a:rPr lang="en" sz="1000">
                  <a:solidFill>
                    <a:srgbClr val="0000FF"/>
                  </a:solidFill>
                  <a:uFill>
                    <a:noFill/>
                  </a:u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https://github.com/arvidl/high-precision-glioma-segmentation</a:t>
              </a:r>
              <a:r>
                <a:rPr lang="en" sz="1000"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n" sz="900"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n" sz="1100">
                  <a:solidFill>
                    <a:srgbClr val="31858F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 sz="1100"/>
            </a:p>
          </p:txBody>
        </p:sp>
        <p:pic>
          <p:nvPicPr>
            <p:cNvPr id="356" name="Google Shape;356;p6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639625" y="2430362"/>
              <a:ext cx="1059000" cy="104003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7" name="Google Shape;357;p63"/>
            <p:cNvCxnSpPr/>
            <p:nvPr/>
          </p:nvCxnSpPr>
          <p:spPr>
            <a:xfrm>
              <a:off x="7450375" y="2753125"/>
              <a:ext cx="795900" cy="15660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8" name="Google Shape;358;p63"/>
            <p:cNvCxnSpPr/>
            <p:nvPr/>
          </p:nvCxnSpPr>
          <p:spPr>
            <a:xfrm>
              <a:off x="7420104" y="3016433"/>
              <a:ext cx="578400" cy="4200"/>
            </a:xfrm>
            <a:prstGeom prst="straightConnector1">
              <a:avLst/>
            </a:prstGeom>
            <a:noFill/>
            <a:ln cap="flat" cmpd="sng" w="9525">
              <a:solidFill>
                <a:srgbClr val="00FF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9" name="Google Shape;359;p63"/>
            <p:cNvCxnSpPr/>
            <p:nvPr/>
          </p:nvCxnSpPr>
          <p:spPr>
            <a:xfrm flipH="1" rot="10800000">
              <a:off x="7456900" y="3053100"/>
              <a:ext cx="691500" cy="2415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4"/>
          <p:cNvSpPr/>
          <p:nvPr/>
        </p:nvSpPr>
        <p:spPr>
          <a:xfrm>
            <a:off x="7326419" y="4829175"/>
            <a:ext cx="16473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AI-assisted G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lioma </a:t>
            </a:r>
            <a:r>
              <a:rPr lang="en" sz="900"/>
              <a:t>R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esearch </a:t>
            </a:r>
            <a:endParaRPr sz="900"/>
          </a:p>
        </p:txBody>
      </p:sp>
      <p:grpSp>
        <p:nvGrpSpPr>
          <p:cNvPr id="366" name="Google Shape;366;p64"/>
          <p:cNvGrpSpPr/>
          <p:nvPr/>
        </p:nvGrpSpPr>
        <p:grpSpPr>
          <a:xfrm>
            <a:off x="171450" y="157163"/>
            <a:ext cx="8801100" cy="3671886"/>
            <a:chOff x="171450" y="157163"/>
            <a:chExt cx="8801100" cy="3671886"/>
          </a:xfrm>
        </p:grpSpPr>
        <p:sp>
          <p:nvSpPr>
            <p:cNvPr id="367" name="Google Shape;367;p64"/>
            <p:cNvSpPr/>
            <p:nvPr/>
          </p:nvSpPr>
          <p:spPr>
            <a:xfrm>
              <a:off x="171450" y="157163"/>
              <a:ext cx="8801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Regional tumor burden - </a:t>
              </a:r>
              <a:r>
                <a:rPr b="1" lang="en" sz="2000">
                  <a:solidFill>
                    <a:srgbClr val="173E43"/>
                  </a:solidFill>
                </a:rPr>
                <a:t>the </a:t>
              </a:r>
              <a:r>
                <a:rPr b="1" lang="en" sz="2000" u="sng">
                  <a:solidFill>
                    <a:srgbClr val="173E43"/>
                  </a:solidFill>
                </a:rPr>
                <a:t>tumor-brain interface</a:t>
              </a:r>
              <a:r>
                <a:rPr b="1" lang="en" sz="2000">
                  <a:solidFill>
                    <a:srgbClr val="173E43"/>
                  </a:solidFill>
                </a:rPr>
                <a:t> measured by mpMRI</a:t>
              </a:r>
              <a:endParaRPr sz="1100"/>
            </a:p>
          </p:txBody>
        </p:sp>
        <p:pic>
          <p:nvPicPr>
            <p:cNvPr id="368" name="Google Shape;368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6131" y="657225"/>
              <a:ext cx="5642484" cy="31718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9" name="Google Shape;369;p64"/>
          <p:cNvGrpSpPr/>
          <p:nvPr/>
        </p:nvGrpSpPr>
        <p:grpSpPr>
          <a:xfrm>
            <a:off x="6089638" y="640569"/>
            <a:ext cx="2251501" cy="728718"/>
            <a:chOff x="6089638" y="640569"/>
            <a:chExt cx="2251501" cy="728718"/>
          </a:xfrm>
        </p:grpSpPr>
        <p:sp>
          <p:nvSpPr>
            <p:cNvPr id="370" name="Google Shape;370;p64"/>
            <p:cNvSpPr/>
            <p:nvPr/>
          </p:nvSpPr>
          <p:spPr>
            <a:xfrm>
              <a:off x="6089638" y="640569"/>
              <a:ext cx="2171700" cy="2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73E43"/>
                  </a:solidFill>
                </a:rPr>
                <a:t>Detect</a:t>
              </a:r>
              <a:r>
                <a:rPr b="1"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 abnormality</a:t>
              </a:r>
              <a:endParaRPr sz="1100"/>
            </a:p>
          </p:txBody>
        </p:sp>
        <p:sp>
          <p:nvSpPr>
            <p:cNvPr id="371" name="Google Shape;371;p64"/>
            <p:cNvSpPr/>
            <p:nvPr/>
          </p:nvSpPr>
          <p:spPr>
            <a:xfrm>
              <a:off x="6169439" y="912087"/>
              <a:ext cx="2171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</a:rPr>
                <a:t>Tumor size and shape</a:t>
              </a:r>
              <a:endParaRPr sz="1500">
                <a:solidFill>
                  <a:srgbClr val="173E43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</a:rPr>
                <a:t>Tumor c</a:t>
              </a: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ompartments</a:t>
              </a:r>
              <a:endParaRPr sz="1100"/>
            </a:p>
          </p:txBody>
        </p:sp>
      </p:grpSp>
      <p:grpSp>
        <p:nvGrpSpPr>
          <p:cNvPr id="372" name="Google Shape;372;p64"/>
          <p:cNvGrpSpPr/>
          <p:nvPr/>
        </p:nvGrpSpPr>
        <p:grpSpPr>
          <a:xfrm>
            <a:off x="6089640" y="1569035"/>
            <a:ext cx="2943773" cy="801165"/>
            <a:chOff x="6089640" y="1569035"/>
            <a:chExt cx="2943773" cy="801165"/>
          </a:xfrm>
        </p:grpSpPr>
        <p:sp>
          <p:nvSpPr>
            <p:cNvPr id="373" name="Google Shape;373;p64"/>
            <p:cNvSpPr/>
            <p:nvPr/>
          </p:nvSpPr>
          <p:spPr>
            <a:xfrm>
              <a:off x="6089640" y="1569035"/>
              <a:ext cx="2171700" cy="2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Describe anatomy</a:t>
              </a:r>
              <a:endParaRPr sz="1100"/>
            </a:p>
          </p:txBody>
        </p:sp>
        <p:sp>
          <p:nvSpPr>
            <p:cNvPr id="374" name="Google Shape;374;p64"/>
            <p:cNvSpPr/>
            <p:nvPr/>
          </p:nvSpPr>
          <p:spPr>
            <a:xfrm>
              <a:off x="6163313" y="1870100"/>
              <a:ext cx="28701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</a:rPr>
                <a:t>Fine-grained brain parcellation</a:t>
              </a: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500">
                  <a:solidFill>
                    <a:srgbClr val="173E43"/>
                  </a:solidFill>
                </a:rPr>
                <a:t>Tumor location </a:t>
              </a:r>
              <a:r>
                <a:rPr lang="en" sz="1100">
                  <a:solidFill>
                    <a:srgbClr val="173E43"/>
                  </a:solidFill>
                </a:rPr>
                <a:t>&amp;</a:t>
              </a:r>
              <a:r>
                <a:rPr lang="en" sz="1500">
                  <a:solidFill>
                    <a:srgbClr val="173E43"/>
                  </a:solidFill>
                </a:rPr>
                <a:t> neighbourhood</a:t>
              </a:r>
              <a:endParaRPr sz="1100"/>
            </a:p>
          </p:txBody>
        </p:sp>
      </p:grpSp>
      <p:grpSp>
        <p:nvGrpSpPr>
          <p:cNvPr id="375" name="Google Shape;375;p64"/>
          <p:cNvGrpSpPr/>
          <p:nvPr/>
        </p:nvGrpSpPr>
        <p:grpSpPr>
          <a:xfrm>
            <a:off x="6120325" y="2645475"/>
            <a:ext cx="2962800" cy="1132774"/>
            <a:chOff x="6120325" y="2645475"/>
            <a:chExt cx="2962800" cy="1132774"/>
          </a:xfrm>
        </p:grpSpPr>
        <p:sp>
          <p:nvSpPr>
            <p:cNvPr id="376" name="Google Shape;376;p64"/>
            <p:cNvSpPr/>
            <p:nvPr/>
          </p:nvSpPr>
          <p:spPr>
            <a:xfrm>
              <a:off x="6120325" y="2645475"/>
              <a:ext cx="2962800" cy="30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Choose the next</a:t>
              </a:r>
              <a:r>
                <a:rPr lang="en" sz="1100"/>
                <a:t> </a:t>
              </a:r>
              <a:r>
                <a:rPr b="1" lang="en" sz="1500">
                  <a:solidFill>
                    <a:srgbClr val="173E43"/>
                  </a:solidFill>
                </a:rPr>
                <a:t>measurement</a:t>
              </a:r>
              <a:endParaRPr sz="1100"/>
            </a:p>
          </p:txBody>
        </p:sp>
        <p:sp>
          <p:nvSpPr>
            <p:cNvPr id="377" name="Google Shape;377;p64"/>
            <p:cNvSpPr/>
            <p:nvPr/>
          </p:nvSpPr>
          <p:spPr>
            <a:xfrm>
              <a:off x="6249200" y="2965849"/>
              <a:ext cx="2833800" cy="81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</a:rPr>
                <a:t>Physiology</a:t>
              </a: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?  </a:t>
              </a:r>
              <a:r>
                <a:rPr lang="en" sz="12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lang="en" sz="1200">
                  <a:solidFill>
                    <a:srgbClr val="173E43"/>
                  </a:solidFill>
                </a:rPr>
                <a:t>MRI, fMRI (BOLD), …</a:t>
              </a:r>
              <a:endParaRPr sz="800"/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Tissue sampling?</a:t>
              </a:r>
              <a:endParaRPr sz="1100"/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73E43"/>
                  </a:solidFill>
                </a:rPr>
                <a:t>Cognition</a:t>
              </a:r>
              <a:r>
                <a:rPr lang="en" sz="15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?    </a:t>
              </a:r>
              <a:r>
                <a:rPr lang="en" sz="1100">
                  <a:solidFill>
                    <a:srgbClr val="173E43"/>
                  </a:solidFill>
                  <a:latin typeface="Arial"/>
                  <a:ea typeface="Arial"/>
                  <a:cs typeface="Arial"/>
                  <a:sym typeface="Arial"/>
                </a:rPr>
                <a:t>CANTAB, </a:t>
              </a:r>
              <a:r>
                <a:rPr lang="en" sz="1100">
                  <a:solidFill>
                    <a:srgbClr val="173E43"/>
                  </a:solidFill>
                </a:rPr>
                <a:t>…</a:t>
              </a:r>
              <a:endParaRPr sz="700"/>
            </a:p>
          </p:txBody>
        </p:sp>
      </p:grpSp>
      <p:sp>
        <p:nvSpPr>
          <p:cNvPr id="378" name="Google Shape;378;p64"/>
          <p:cNvSpPr/>
          <p:nvPr/>
        </p:nvSpPr>
        <p:spPr>
          <a:xfrm>
            <a:off x="164575" y="3960500"/>
            <a:ext cx="89187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73E43"/>
                </a:solidFill>
                <a:latin typeface="Arial"/>
                <a:ea typeface="Arial"/>
                <a:cs typeface="Arial"/>
                <a:sym typeface="Arial"/>
              </a:rPr>
              <a:t>AI role:  </a:t>
            </a:r>
            <a:r>
              <a:rPr lang="en" sz="1200" u="sng">
                <a:solidFill>
                  <a:srgbClr val="173E43"/>
                </a:solidFill>
              </a:rPr>
              <a:t>Deep learning</a:t>
            </a:r>
            <a:r>
              <a:rPr lang="en" sz="1200">
                <a:solidFill>
                  <a:srgbClr val="173E43"/>
                </a:solidFill>
              </a:rPr>
              <a:t> a</a:t>
            </a:r>
            <a:r>
              <a:rPr lang="en" sz="1200">
                <a:solidFill>
                  <a:srgbClr val="173E43"/>
                </a:solidFill>
              </a:rPr>
              <a:t>utomated brain segmentation, Deep learning t</a:t>
            </a:r>
            <a:r>
              <a:rPr lang="en" sz="1200">
                <a:solidFill>
                  <a:srgbClr val="173E43"/>
                </a:solidFill>
              </a:rPr>
              <a:t>umor segmentation,</a:t>
            </a:r>
            <a:r>
              <a:rPr lang="en" sz="1200">
                <a:solidFill>
                  <a:srgbClr val="173E43"/>
                </a:solidFill>
              </a:rPr>
              <a:t> </a:t>
            </a:r>
            <a:r>
              <a:rPr lang="en" sz="1200" u="sng">
                <a:solidFill>
                  <a:srgbClr val="173E43"/>
                </a:solidFill>
              </a:rPr>
              <a:t>AI-assisted</a:t>
            </a:r>
            <a:r>
              <a:rPr lang="en" sz="1200" u="sng">
                <a:solidFill>
                  <a:srgbClr val="173E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200" u="sng">
                <a:solidFill>
                  <a:srgbClr val="173E43"/>
                </a:solidFill>
              </a:rPr>
              <a:t>c</a:t>
            </a:r>
            <a:r>
              <a:rPr lang="en" sz="1200" u="sng">
                <a:solidFill>
                  <a:srgbClr val="173E43"/>
                </a:solidFill>
                <a:latin typeface="Arial"/>
                <a:ea typeface="Arial"/>
                <a:cs typeface="Arial"/>
                <a:sym typeface="Arial"/>
              </a:rPr>
              <a:t>oding</a:t>
            </a:r>
            <a:r>
              <a:rPr lang="en" sz="1200">
                <a:solidFill>
                  <a:srgbClr val="173E43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200">
                <a:solidFill>
                  <a:srgbClr val="173E43"/>
                </a:solidFill>
              </a:rPr>
              <a:t>v</a:t>
            </a:r>
            <a:r>
              <a:rPr lang="en" sz="1200">
                <a:solidFill>
                  <a:srgbClr val="173E43"/>
                </a:solidFill>
                <a:latin typeface="Arial"/>
                <a:ea typeface="Arial"/>
                <a:cs typeface="Arial"/>
                <a:sym typeface="Arial"/>
              </a:rPr>
              <a:t>isualization</a:t>
            </a:r>
            <a:r>
              <a:rPr lang="en" sz="1400">
                <a:solidFill>
                  <a:srgbClr val="173E4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  <p:sp>
        <p:nvSpPr>
          <p:cNvPr id="379" name="Google Shape;379;p64"/>
          <p:cNvSpPr/>
          <p:nvPr/>
        </p:nvSpPr>
        <p:spPr>
          <a:xfrm>
            <a:off x="514350" y="4491896"/>
            <a:ext cx="81153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1858F"/>
                </a:solidFill>
                <a:latin typeface="Arial"/>
                <a:ea typeface="Arial"/>
                <a:cs typeface="Arial"/>
                <a:sym typeface="Arial"/>
              </a:rPr>
              <a:t>Published Fig. 4a–b, UCSF-PDGM-0020; Lundervold et al. 2026, CC BY 4.0.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1858F"/>
                </a:solidFill>
                <a:latin typeface="Arial"/>
                <a:ea typeface="Arial"/>
                <a:cs typeface="Arial"/>
                <a:sym typeface="Arial"/>
              </a:rPr>
              <a:t>Anatomical labels and MRI compartments do not establish functional eloquence or cell programs.</a:t>
            </a:r>
            <a:endParaRPr sz="1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5"/>
          <p:cNvSpPr txBox="1"/>
          <p:nvPr/>
        </p:nvSpPr>
        <p:spPr>
          <a:xfrm>
            <a:off x="229550" y="0"/>
            <a:ext cx="610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AI-assisted t</a:t>
            </a:r>
            <a:r>
              <a:rPr lang="en" sz="1800"/>
              <a:t>umor growth modelling   </a:t>
            </a:r>
            <a:endParaRPr sz="1600"/>
          </a:p>
        </p:txBody>
      </p:sp>
      <p:pic>
        <p:nvPicPr>
          <p:cNvPr id="385" name="Google Shape;385;p65"/>
          <p:cNvPicPr preferRelativeResize="0"/>
          <p:nvPr/>
        </p:nvPicPr>
        <p:blipFill rotWithShape="1">
          <a:blip r:embed="rId3">
            <a:alphaModFix/>
          </a:blip>
          <a:srcRect b="0" l="0" r="0" t="23914"/>
          <a:stretch/>
        </p:blipFill>
        <p:spPr>
          <a:xfrm>
            <a:off x="152400" y="1847200"/>
            <a:ext cx="5418275" cy="30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5953" y="4878775"/>
            <a:ext cx="1672549" cy="264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65"/>
          <p:cNvGrpSpPr/>
          <p:nvPr/>
        </p:nvGrpSpPr>
        <p:grpSpPr>
          <a:xfrm>
            <a:off x="320100" y="390340"/>
            <a:ext cx="5250573" cy="1619885"/>
            <a:chOff x="320100" y="390340"/>
            <a:chExt cx="5250573" cy="1619885"/>
          </a:xfrm>
        </p:grpSpPr>
        <p:pic>
          <p:nvPicPr>
            <p:cNvPr id="388" name="Google Shape;388;p6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0100" y="437918"/>
              <a:ext cx="2320799" cy="1303200"/>
            </a:xfrm>
            <a:prstGeom prst="rect">
              <a:avLst/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89" name="Google Shape;389;p6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086372" y="390340"/>
              <a:ext cx="2484301" cy="1390147"/>
            </a:xfrm>
            <a:prstGeom prst="rect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390" name="Google Shape;390;p65"/>
            <p:cNvCxnSpPr/>
            <p:nvPr/>
          </p:nvCxnSpPr>
          <p:spPr>
            <a:xfrm flipH="1" rot="10800000">
              <a:off x="1029850" y="1741125"/>
              <a:ext cx="91800" cy="269100"/>
            </a:xfrm>
            <a:prstGeom prst="straightConnector1">
              <a:avLst/>
            </a:prstGeom>
            <a:noFill/>
            <a:ln cap="flat" cmpd="sng" w="19050">
              <a:solidFill>
                <a:srgbClr val="B7B7B7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1" name="Google Shape;391;p65"/>
            <p:cNvCxnSpPr/>
            <p:nvPr/>
          </p:nvCxnSpPr>
          <p:spPr>
            <a:xfrm flipH="1" rot="10800000">
              <a:off x="1318475" y="1539425"/>
              <a:ext cx="1698900" cy="435000"/>
            </a:xfrm>
            <a:prstGeom prst="straightConnector1">
              <a:avLst/>
            </a:prstGeom>
            <a:noFill/>
            <a:ln cap="flat" cmpd="sng" w="19050">
              <a:solidFill>
                <a:srgbClr val="B7B7B7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92" name="Google Shape;392;p65"/>
          <p:cNvGrpSpPr/>
          <p:nvPr/>
        </p:nvGrpSpPr>
        <p:grpSpPr>
          <a:xfrm>
            <a:off x="5660868" y="263850"/>
            <a:ext cx="3391282" cy="949800"/>
            <a:chOff x="5660868" y="263850"/>
            <a:chExt cx="3391282" cy="949800"/>
          </a:xfrm>
        </p:grpSpPr>
        <p:pic>
          <p:nvPicPr>
            <p:cNvPr id="393" name="Google Shape;393;p6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700225" y="390350"/>
              <a:ext cx="3351925" cy="823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p6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660868" y="263850"/>
              <a:ext cx="1588600" cy="269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5" name="Google Shape;395;p65" title="tumor_growth.gi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22250" y="3179825"/>
            <a:ext cx="3268524" cy="1838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6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23375" y="1213650"/>
            <a:ext cx="2663496" cy="18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6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70675" y="2100643"/>
            <a:ext cx="3573324" cy="2981857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65"/>
          <p:cNvSpPr txBox="1"/>
          <p:nvPr/>
        </p:nvSpPr>
        <p:spPr>
          <a:xfrm>
            <a:off x="229550" y="4856192"/>
            <a:ext cx="240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https://github.com/arvidl/brainweb_fisher_kpp</a:t>
            </a:r>
            <a:endParaRPr sz="800">
              <a:solidFill>
                <a:srgbClr val="0000FF"/>
              </a:solidFill>
            </a:endParaRPr>
          </a:p>
        </p:txBody>
      </p:sp>
      <p:sp>
        <p:nvSpPr>
          <p:cNvPr id="399" name="Google Shape;399;p65"/>
          <p:cNvSpPr txBox="1"/>
          <p:nvPr/>
        </p:nvSpPr>
        <p:spPr>
          <a:xfrm>
            <a:off x="142100" y="1604792"/>
            <a:ext cx="89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Prompt:</a:t>
            </a:r>
            <a:endParaRPr b="1" sz="1300"/>
          </a:p>
        </p:txBody>
      </p:sp>
      <p:pic>
        <p:nvPicPr>
          <p:cNvPr id="400" name="Google Shape;400;p6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75175" y="82550"/>
            <a:ext cx="1193654" cy="3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66"/>
          <p:cNvGrpSpPr/>
          <p:nvPr/>
        </p:nvGrpSpPr>
        <p:grpSpPr>
          <a:xfrm>
            <a:off x="4762225" y="152400"/>
            <a:ext cx="4112824" cy="4124023"/>
            <a:chOff x="4762225" y="152400"/>
            <a:chExt cx="4112824" cy="4124023"/>
          </a:xfrm>
        </p:grpSpPr>
        <p:pic>
          <p:nvPicPr>
            <p:cNvPr id="406" name="Google Shape;406;p66" title="tumor_growth.gif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06225" y="152400"/>
              <a:ext cx="3976999" cy="2237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" name="Google Shape;407;p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62225" y="3119850"/>
              <a:ext cx="4112824" cy="11565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8" name="Google Shape;408;p66"/>
          <p:cNvGrpSpPr/>
          <p:nvPr/>
        </p:nvGrpSpPr>
        <p:grpSpPr>
          <a:xfrm>
            <a:off x="471250" y="76200"/>
            <a:ext cx="8403799" cy="5105950"/>
            <a:chOff x="471250" y="76200"/>
            <a:chExt cx="8403799" cy="5105950"/>
          </a:xfrm>
        </p:grpSpPr>
        <p:grpSp>
          <p:nvGrpSpPr>
            <p:cNvPr id="409" name="Google Shape;409;p66"/>
            <p:cNvGrpSpPr/>
            <p:nvPr/>
          </p:nvGrpSpPr>
          <p:grpSpPr>
            <a:xfrm>
              <a:off x="471250" y="76200"/>
              <a:ext cx="4093225" cy="5105950"/>
              <a:chOff x="471250" y="76200"/>
              <a:chExt cx="4093225" cy="5105950"/>
            </a:xfrm>
          </p:grpSpPr>
          <p:pic>
            <p:nvPicPr>
              <p:cNvPr id="410" name="Google Shape;410;p66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71250" y="76200"/>
                <a:ext cx="3977000" cy="49389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1" name="Google Shape;411;p66"/>
              <p:cNvSpPr txBox="1"/>
              <p:nvPr/>
            </p:nvSpPr>
            <p:spPr>
              <a:xfrm>
                <a:off x="480875" y="4905250"/>
                <a:ext cx="40836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rgbClr val="0000FF"/>
                    </a:solidFill>
                    <a:uFill>
                      <a:noFill/>
                    </a:uFill>
                    <a:hlinkClick r:id="rId6">
                      <a:extLst>
                        <a:ext uri="{A12FA001-AC4F-418D-AE19-62706E023703}">
                          <ahyp:hlinkClr val="tx"/>
                        </a:ext>
                      </a:extLst>
                    </a:hlinkClick>
                  </a:rPr>
                  <a:t>A. Comba et al. Uncovering Spatiotemporal Heterogeneity of High-Grade Gliomas. Front Oncol 2021;11;703764</a:t>
                </a:r>
                <a:endParaRPr sz="1800">
                  <a:solidFill>
                    <a:srgbClr val="0000FF"/>
                  </a:solidFill>
                </a:endParaRPr>
              </a:p>
            </p:txBody>
          </p:sp>
        </p:grpSp>
        <p:grpSp>
          <p:nvGrpSpPr>
            <p:cNvPr id="412" name="Google Shape;412;p66"/>
            <p:cNvGrpSpPr/>
            <p:nvPr/>
          </p:nvGrpSpPr>
          <p:grpSpPr>
            <a:xfrm>
              <a:off x="4338025" y="2483525"/>
              <a:ext cx="4537024" cy="636325"/>
              <a:chOff x="4338025" y="2483525"/>
              <a:chExt cx="4537024" cy="636325"/>
            </a:xfrm>
          </p:grpSpPr>
          <p:pic>
            <p:nvPicPr>
              <p:cNvPr id="413" name="Google Shape;413;p66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4762225" y="2483525"/>
                <a:ext cx="4112824" cy="636325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414" name="Google Shape;414;p66"/>
              <p:cNvCxnSpPr>
                <a:stCxn id="413" idx="1"/>
              </p:cNvCxnSpPr>
              <p:nvPr/>
            </p:nvCxnSpPr>
            <p:spPr>
              <a:xfrm rot="10800000">
                <a:off x="4338025" y="2682887"/>
                <a:ext cx="424200" cy="1188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415" name="Google Shape;415;p66"/>
          <p:cNvGrpSpPr/>
          <p:nvPr/>
        </p:nvGrpSpPr>
        <p:grpSpPr>
          <a:xfrm>
            <a:off x="4173094" y="4246741"/>
            <a:ext cx="4610131" cy="831379"/>
            <a:chOff x="4173094" y="4246741"/>
            <a:chExt cx="4610131" cy="831379"/>
          </a:xfrm>
        </p:grpSpPr>
        <p:pic>
          <p:nvPicPr>
            <p:cNvPr id="416" name="Google Shape;416;p6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840950" y="4276425"/>
              <a:ext cx="3942275" cy="8016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66"/>
            <p:cNvSpPr txBox="1"/>
            <p:nvPr/>
          </p:nvSpPr>
          <p:spPr>
            <a:xfrm>
              <a:off x="4173094" y="4246741"/>
              <a:ext cx="72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Follow-up</a:t>
              </a:r>
              <a:endParaRPr sz="900"/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prompt:</a:t>
              </a:r>
              <a:endParaRPr sz="9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67"/>
          <p:cNvGrpSpPr/>
          <p:nvPr/>
        </p:nvGrpSpPr>
        <p:grpSpPr>
          <a:xfrm>
            <a:off x="277775" y="347675"/>
            <a:ext cx="8831526" cy="3461476"/>
            <a:chOff x="152400" y="347675"/>
            <a:chExt cx="8831526" cy="3461476"/>
          </a:xfrm>
        </p:grpSpPr>
        <p:pic>
          <p:nvPicPr>
            <p:cNvPr id="423" name="Google Shape;423;p6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2209775"/>
              <a:ext cx="3926248" cy="64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" name="Google Shape;424;p67" title="comparison.gif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68625" y="347675"/>
              <a:ext cx="4615301" cy="34614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25" name="Google Shape;425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594100"/>
            <a:ext cx="1789224" cy="230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67"/>
          <p:cNvSpPr txBox="1"/>
          <p:nvPr/>
        </p:nvSpPr>
        <p:spPr>
          <a:xfrm>
            <a:off x="65600" y="4824525"/>
            <a:ext cx="22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https://github.com/arvidl/brainweb_fisher_kpp</a:t>
            </a:r>
            <a:endParaRPr sz="800">
              <a:solidFill>
                <a:srgbClr val="0000FF"/>
              </a:solidFill>
            </a:endParaRPr>
          </a:p>
        </p:txBody>
      </p:sp>
      <p:grpSp>
        <p:nvGrpSpPr>
          <p:cNvPr id="427" name="Google Shape;427;p67"/>
          <p:cNvGrpSpPr/>
          <p:nvPr/>
        </p:nvGrpSpPr>
        <p:grpSpPr>
          <a:xfrm>
            <a:off x="152400" y="41775"/>
            <a:ext cx="3934201" cy="1229250"/>
            <a:chOff x="152400" y="41775"/>
            <a:chExt cx="3934201" cy="1229250"/>
          </a:xfrm>
        </p:grpSpPr>
        <p:pic>
          <p:nvPicPr>
            <p:cNvPr id="428" name="Google Shape;428;p6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52400" y="296700"/>
              <a:ext cx="3934201" cy="974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67"/>
            <p:cNvSpPr txBox="1"/>
            <p:nvPr/>
          </p:nvSpPr>
          <p:spPr>
            <a:xfrm>
              <a:off x="450650" y="41775"/>
              <a:ext cx="17892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/>
                <a:t>3D implementation</a:t>
              </a:r>
              <a:endParaRPr sz="1500"/>
            </a:p>
          </p:txBody>
        </p:sp>
      </p:grpSp>
      <p:grpSp>
        <p:nvGrpSpPr>
          <p:cNvPr id="430" name="Google Shape;430;p67"/>
          <p:cNvGrpSpPr/>
          <p:nvPr/>
        </p:nvGrpSpPr>
        <p:grpSpPr>
          <a:xfrm>
            <a:off x="106483" y="1238975"/>
            <a:ext cx="4032301" cy="893625"/>
            <a:chOff x="106483" y="1238975"/>
            <a:chExt cx="4032301" cy="893625"/>
          </a:xfrm>
        </p:grpSpPr>
        <p:pic>
          <p:nvPicPr>
            <p:cNvPr id="431" name="Google Shape;431;p6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6483" y="1483200"/>
              <a:ext cx="4032301" cy="649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67"/>
            <p:cNvSpPr txBox="1"/>
            <p:nvPr/>
          </p:nvSpPr>
          <p:spPr>
            <a:xfrm>
              <a:off x="770924" y="1238975"/>
              <a:ext cx="15045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/>
                <a:t>visualisation</a:t>
              </a:r>
              <a:endParaRPr sz="1500"/>
            </a:p>
          </p:txBody>
        </p:sp>
      </p:grpSp>
      <p:grpSp>
        <p:nvGrpSpPr>
          <p:cNvPr id="433" name="Google Shape;433;p67"/>
          <p:cNvGrpSpPr/>
          <p:nvPr/>
        </p:nvGrpSpPr>
        <p:grpSpPr>
          <a:xfrm>
            <a:off x="311275" y="76280"/>
            <a:ext cx="8708947" cy="4990925"/>
            <a:chOff x="319633" y="76280"/>
            <a:chExt cx="8708947" cy="4990925"/>
          </a:xfrm>
        </p:grpSpPr>
        <p:pic>
          <p:nvPicPr>
            <p:cNvPr id="434" name="Google Shape;434;p6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19633" y="3294000"/>
              <a:ext cx="2238000" cy="441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67" title="comparison_poster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373980" y="76280"/>
              <a:ext cx="6654600" cy="49909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8"/>
          <p:cNvSpPr txBox="1"/>
          <p:nvPr/>
        </p:nvSpPr>
        <p:spPr>
          <a:xfrm>
            <a:off x="360775" y="1874991"/>
            <a:ext cx="859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/>
              <a:t>From </a:t>
            </a:r>
            <a:r>
              <a:rPr i="1" lang="en" sz="1800"/>
              <a:t>detailed imaging and diffusion-reaction modeling of tumor growth in 3D+time</a:t>
            </a:r>
            <a:endParaRPr i="1" sz="1800"/>
          </a:p>
        </p:txBody>
      </p:sp>
      <p:sp>
        <p:nvSpPr>
          <p:cNvPr id="441" name="Google Shape;441;p68"/>
          <p:cNvSpPr txBox="1"/>
          <p:nvPr/>
        </p:nvSpPr>
        <p:spPr>
          <a:xfrm>
            <a:off x="80446" y="0"/>
            <a:ext cx="11988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"/>
              <a:t>  sub-PAT16</a:t>
            </a:r>
            <a:endParaRPr b="1"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└── </a:t>
            </a:r>
            <a:r>
              <a:rPr b="1" lang="en" sz="200"/>
              <a:t>ses-preop</a:t>
            </a:r>
            <a:endParaRPr sz="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├── anat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sub-PAT16_ses-preop_T1w.json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└── sub-PAT16_ses-preop_T1w.nii.gz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├── dwi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├── sub-PAT16_ses-preop_acq-AP_dwi.bval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├── sub-PAT16_ses-preop_acq-AP_dwi.bvec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├── sub-PAT16_ses-preop_acq-AP_dwi.json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├── sub-PAT16_ses-preop_acq-AP_dwi.nii.gz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├── sub-PAT16_ses-preop_acq-PA_dwi.bval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├── sub-PAT16_ses-preop_acq-PA_dwi.bvec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├── sub-PAT16_ses-preop_acq-PA_dwi.json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 └── sub-PAT16_ses-preop_acq-PA_dwi.nii.gz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└── func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       ├── sub-PAT16_ses-preop_task-rest_bold.json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       └── sub-PAT16_ses-preop_task-rest_bold.nii.gz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└── </a:t>
            </a:r>
            <a:r>
              <a:rPr b="1" lang="en" sz="200"/>
              <a:t>ses-postop</a:t>
            </a:r>
            <a:endParaRPr b="1"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├── anat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sub-PAT16_ses-postop_T1w.json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└── sub-PAT16_ses-postop_T1w.nii.gz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├── dwi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sub-PAT16_ses-postop_acq-AP_dwi.bval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sub-PAT16_ses-postop_acq-AP_dwi.bvec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sub-PAT16_ses-postop_acq-AP_dwi.json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sub-PAT16_ses-postop_acq-AP_dwi.nii.gz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sub-PAT16_ses-postop_acq-PA_dwi.bval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sub-PAT16_ses-postop_acq-PA_dwi.bvec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├── sub-PAT16_ses-postop_acq-PA_dwi.json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│      └── sub-PAT16_ses-postop_acq-PA_dwi.nii.gz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└── func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        ├── sub-PAT16_ses-postop_task-rest_bold.json</a:t>
            </a:r>
            <a:endParaRPr sz="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"/>
              <a:t>                  └── sub-PAT16_ses-postop_task-rest_bold.nii.gz </a:t>
            </a:r>
            <a:endParaRPr sz="200"/>
          </a:p>
        </p:txBody>
      </p:sp>
      <p:pic>
        <p:nvPicPr>
          <p:cNvPr id="442" name="Google Shape;44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5143" y="90550"/>
            <a:ext cx="1347950" cy="167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68" title="comparison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3526" y="110228"/>
            <a:ext cx="2151552" cy="161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6913" y="80525"/>
            <a:ext cx="2564024" cy="17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80937" y="696090"/>
            <a:ext cx="1590674" cy="489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6" name="Google Shape;446;p68"/>
          <p:cNvGrpSpPr/>
          <p:nvPr/>
        </p:nvGrpSpPr>
        <p:grpSpPr>
          <a:xfrm>
            <a:off x="252778" y="2336691"/>
            <a:ext cx="8815651" cy="2782262"/>
            <a:chOff x="252778" y="2336691"/>
            <a:chExt cx="8815651" cy="2782262"/>
          </a:xfrm>
        </p:grpSpPr>
        <p:cxnSp>
          <p:nvCxnSpPr>
            <p:cNvPr id="447" name="Google Shape;447;p68"/>
            <p:cNvCxnSpPr>
              <a:stCxn id="440" idx="2"/>
              <a:endCxn id="448" idx="0"/>
            </p:cNvCxnSpPr>
            <p:nvPr/>
          </p:nvCxnSpPr>
          <p:spPr>
            <a:xfrm>
              <a:off x="4660525" y="2336691"/>
              <a:ext cx="8100" cy="7092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48" name="Google Shape;448;p68"/>
            <p:cNvSpPr txBox="1"/>
            <p:nvPr/>
          </p:nvSpPr>
          <p:spPr>
            <a:xfrm>
              <a:off x="368861" y="3045799"/>
              <a:ext cx="8599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/>
                <a:t>A more “holistic” approach to structural and functional connectivity and cognition</a:t>
              </a:r>
              <a:r>
                <a:rPr lang="en" sz="1800"/>
                <a:t> </a:t>
              </a:r>
              <a:endParaRPr sz="1800"/>
            </a:p>
          </p:txBody>
        </p:sp>
        <p:pic>
          <p:nvPicPr>
            <p:cNvPr id="449" name="Google Shape;449;p6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2778" y="3657225"/>
              <a:ext cx="2015474" cy="1360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0" name="Google Shape;450;p6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350746" y="3657225"/>
              <a:ext cx="2680143" cy="13600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1" name="Google Shape;451;p6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012475" y="3712950"/>
              <a:ext cx="2204525" cy="1240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2" name="Google Shape;452;p68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7278379" y="3584929"/>
              <a:ext cx="1779702" cy="822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3" name="Google Shape;453;p68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7312950" y="4439227"/>
              <a:ext cx="1755479" cy="6797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458" name="Google Shape;45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75" y="339500"/>
            <a:ext cx="6394524" cy="167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69"/>
          <p:cNvSpPr txBox="1"/>
          <p:nvPr/>
        </p:nvSpPr>
        <p:spPr>
          <a:xfrm>
            <a:off x="5351400" y="90879"/>
            <a:ext cx="110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[ on </a:t>
            </a:r>
            <a:r>
              <a:rPr b="1" lang="en" sz="1000">
                <a:solidFill>
                  <a:srgbClr val="0000FF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r>
              <a:rPr lang="en" sz="1000">
                <a:solidFill>
                  <a:schemeClr val="dk2"/>
                </a:solidFill>
              </a:rPr>
              <a:t> ]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 (include both left and right panel, and the header (GLIOMA BRAIN DIGITAL TWIN PROJECT), and draw some conclusions. Background should be light, text should be black." id="465" name="Google Shape;465;p70"/>
          <p:cNvPicPr preferRelativeResize="0"/>
          <p:nvPr/>
        </p:nvPicPr>
        <p:blipFill rotWithShape="1">
          <a:blip r:embed="rId3">
            <a:alphaModFix/>
          </a:blip>
          <a:srcRect b="81948" l="0" r="0" t="0"/>
          <a:stretch/>
        </p:blipFill>
        <p:spPr>
          <a:xfrm>
            <a:off x="-35700" y="0"/>
            <a:ext cx="9210675" cy="92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0675" y="137025"/>
            <a:ext cx="4813075" cy="38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275" y="374300"/>
            <a:ext cx="13045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70"/>
          <p:cNvSpPr txBox="1"/>
          <p:nvPr/>
        </p:nvSpPr>
        <p:spPr>
          <a:xfrm>
            <a:off x="5351400" y="90879"/>
            <a:ext cx="110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[ on </a:t>
            </a:r>
            <a:r>
              <a:rPr b="1" lang="en" sz="1000">
                <a:solidFill>
                  <a:srgbClr val="0000FF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r>
              <a:rPr lang="en" sz="1000">
                <a:solidFill>
                  <a:schemeClr val="dk2"/>
                </a:solidFill>
              </a:rPr>
              <a:t> ]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69" name="Google Shape;469;p70"/>
          <p:cNvSpPr txBox="1"/>
          <p:nvPr/>
        </p:nvSpPr>
        <p:spPr>
          <a:xfrm rot="1057525">
            <a:off x="7823866" y="207275"/>
            <a:ext cx="1235499" cy="49260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</a:rPr>
              <a:t>Brain - Behaviour </a:t>
            </a:r>
            <a:endParaRPr sz="10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</a:rPr>
              <a:t>  relationships</a:t>
            </a:r>
            <a:endParaRPr sz="1000">
              <a:highlight>
                <a:srgbClr val="FFFFFF"/>
              </a:highlight>
            </a:endParaRPr>
          </a:p>
        </p:txBody>
      </p:sp>
      <p:pic>
        <p:nvPicPr>
          <p:cNvPr id="470" name="Google Shape;470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4250" y="904462"/>
            <a:ext cx="8087127" cy="26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7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9113" y="3474150"/>
            <a:ext cx="8025446" cy="16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476" name="Google Shape;476;p71"/>
          <p:cNvPicPr preferRelativeResize="0"/>
          <p:nvPr/>
        </p:nvPicPr>
        <p:blipFill rotWithShape="1">
          <a:blip r:embed="rId3">
            <a:alphaModFix/>
          </a:blip>
          <a:srcRect b="47900" l="0" r="0" t="0"/>
          <a:stretch/>
        </p:blipFill>
        <p:spPr>
          <a:xfrm>
            <a:off x="-35700" y="0"/>
            <a:ext cx="9210675" cy="2679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7" name="Google Shape;477;p71"/>
          <p:cNvGrpSpPr/>
          <p:nvPr/>
        </p:nvGrpSpPr>
        <p:grpSpPr>
          <a:xfrm>
            <a:off x="4749989" y="3665516"/>
            <a:ext cx="4334915" cy="764875"/>
            <a:chOff x="4749989" y="4448068"/>
            <a:chExt cx="4334915" cy="764875"/>
          </a:xfrm>
        </p:grpSpPr>
        <p:sp>
          <p:nvSpPr>
            <p:cNvPr id="478" name="Google Shape;478;p71"/>
            <p:cNvSpPr txBox="1"/>
            <p:nvPr/>
          </p:nvSpPr>
          <p:spPr>
            <a:xfrm>
              <a:off x="4749989" y="4448068"/>
              <a:ext cx="1882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u="sng">
                  <a:solidFill>
                    <a:schemeClr val="hlink"/>
                  </a:solidFill>
                  <a:hlinkClick r:id="rId4"/>
                </a:rPr>
                <a:t>https://link.aps.org/doi/10.1103/d4tm-92vb</a:t>
              </a:r>
              <a:r>
                <a:rPr lang="en" sz="700"/>
                <a:t> </a:t>
              </a:r>
              <a:endParaRPr sz="700"/>
            </a:p>
          </p:txBody>
        </p:sp>
        <p:sp>
          <p:nvSpPr>
            <p:cNvPr id="479" name="Google Shape;479;p71"/>
            <p:cNvSpPr txBox="1"/>
            <p:nvPr/>
          </p:nvSpPr>
          <p:spPr>
            <a:xfrm>
              <a:off x="6744005" y="4617600"/>
              <a:ext cx="23409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u="sng">
                  <a:solidFill>
                    <a:schemeClr val="hlink"/>
                  </a:solidFill>
                  <a:hlinkClick r:id="rId5"/>
                </a:rPr>
                <a:t>https://www.pnas.org/doi/10.1073/pnas.1517384113</a:t>
              </a:r>
              <a:r>
                <a:rPr lang="en" sz="700"/>
                <a:t> </a:t>
              </a:r>
              <a:endParaRPr sz="700"/>
            </a:p>
          </p:txBody>
        </p:sp>
        <p:sp>
          <p:nvSpPr>
            <p:cNvPr id="480" name="Google Shape;480;p71"/>
            <p:cNvSpPr txBox="1"/>
            <p:nvPr/>
          </p:nvSpPr>
          <p:spPr>
            <a:xfrm>
              <a:off x="4901986" y="4763443"/>
              <a:ext cx="2125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u="sng">
                  <a:solidFill>
                    <a:schemeClr val="hlink"/>
                  </a:solidFill>
                  <a:hlinkClick r:id="rId6"/>
                </a:rPr>
                <a:t>https://doi.org/10.1186/s40708-025-00283-w</a:t>
              </a:r>
              <a:r>
                <a:rPr lang="en" sz="700"/>
                <a:t> </a:t>
              </a:r>
              <a:endParaRPr sz="700"/>
            </a:p>
          </p:txBody>
        </p:sp>
        <p:sp>
          <p:nvSpPr>
            <p:cNvPr id="481" name="Google Shape;481;p71"/>
            <p:cNvSpPr txBox="1"/>
            <p:nvPr/>
          </p:nvSpPr>
          <p:spPr>
            <a:xfrm>
              <a:off x="6123751" y="4920443"/>
              <a:ext cx="1790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u="sng">
                  <a:solidFill>
                    <a:schemeClr val="hlink"/>
                  </a:solidFill>
                  <a:hlinkClick r:id="rId7"/>
                </a:rPr>
                <a:t>https://doi.org/10.1093/bib/bbaf722</a:t>
              </a:r>
              <a:r>
                <a:rPr lang="en" sz="700"/>
                <a:t> </a:t>
              </a:r>
              <a:endParaRPr sz="700"/>
            </a:p>
          </p:txBody>
        </p:sp>
      </p:grpSp>
      <p:pic>
        <p:nvPicPr>
          <p:cNvPr id="482" name="Google Shape;482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5275" y="2956525"/>
            <a:ext cx="8702925" cy="153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2550" y="2888350"/>
            <a:ext cx="8866325" cy="164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7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3500" y="2888356"/>
            <a:ext cx="1594615" cy="1502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7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11973" y="2895006"/>
            <a:ext cx="1594626" cy="148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7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760450" y="2895006"/>
            <a:ext cx="1594624" cy="1484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7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495550" y="2895006"/>
            <a:ext cx="1594625" cy="149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7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244895" y="2904081"/>
            <a:ext cx="1588165" cy="1484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9" name="Google Shape;489;p71"/>
          <p:cNvGrpSpPr/>
          <p:nvPr/>
        </p:nvGrpSpPr>
        <p:grpSpPr>
          <a:xfrm>
            <a:off x="994675" y="4425393"/>
            <a:ext cx="8093826" cy="716532"/>
            <a:chOff x="994675" y="4425393"/>
            <a:chExt cx="8093826" cy="716532"/>
          </a:xfrm>
        </p:grpSpPr>
        <p:pic>
          <p:nvPicPr>
            <p:cNvPr id="490" name="Google Shape;490;p71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5355075" y="4492900"/>
              <a:ext cx="1919450" cy="15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1" name="Google Shape;491;p71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5356427" y="4470025"/>
              <a:ext cx="1861725" cy="15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71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4756550" y="4494000"/>
              <a:ext cx="1790700" cy="177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71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4941341" y="4854213"/>
              <a:ext cx="2276800" cy="15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71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6169675" y="4978225"/>
              <a:ext cx="1735825" cy="15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71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994675" y="4494000"/>
              <a:ext cx="6185450" cy="562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71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5494977" y="4795625"/>
              <a:ext cx="1861725" cy="150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7" name="Google Shape;497;p71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6613027" y="4905750"/>
              <a:ext cx="1861725" cy="150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71"/>
            <p:cNvSpPr txBox="1"/>
            <p:nvPr/>
          </p:nvSpPr>
          <p:spPr>
            <a:xfrm>
              <a:off x="7086901" y="4576036"/>
              <a:ext cx="2001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000FF"/>
                  </a:solidFill>
                  <a:uFill>
                    <a:noFill/>
                  </a:uFill>
                  <a:hlinkClick r:id="rId20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https://www.pnas.org/doi/10.1073/pnas.1517384113</a:t>
              </a:r>
              <a:r>
                <a:rPr lang="en" sz="600">
                  <a:solidFill>
                    <a:srgbClr val="0000FF"/>
                  </a:solidFill>
                </a:rPr>
                <a:t> </a:t>
              </a:r>
              <a:endParaRPr sz="600">
                <a:solidFill>
                  <a:srgbClr val="0000FF"/>
                </a:solidFill>
              </a:endParaRPr>
            </a:p>
          </p:txBody>
        </p:sp>
        <p:sp>
          <p:nvSpPr>
            <p:cNvPr id="499" name="Google Shape;499;p71"/>
            <p:cNvSpPr txBox="1"/>
            <p:nvPr/>
          </p:nvSpPr>
          <p:spPr>
            <a:xfrm>
              <a:off x="5449241" y="4718416"/>
              <a:ext cx="21255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000FF"/>
                  </a:solidFill>
                  <a:uFill>
                    <a:noFill/>
                  </a:uFill>
                  <a:hlinkClick r:id="rId21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https://doi.org/10.1186/s40708-025-00283-w</a:t>
              </a:r>
              <a:r>
                <a:rPr lang="en" sz="600">
                  <a:solidFill>
                    <a:srgbClr val="0000FF"/>
                  </a:solidFill>
                </a:rPr>
                <a:t> </a:t>
              </a:r>
              <a:endParaRPr sz="600">
                <a:solidFill>
                  <a:srgbClr val="0000FF"/>
                </a:solidFill>
              </a:endParaRPr>
            </a:p>
          </p:txBody>
        </p:sp>
        <p:sp>
          <p:nvSpPr>
            <p:cNvPr id="500" name="Google Shape;500;p71"/>
            <p:cNvSpPr txBox="1"/>
            <p:nvPr/>
          </p:nvSpPr>
          <p:spPr>
            <a:xfrm>
              <a:off x="6542851" y="4865025"/>
              <a:ext cx="17907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000FF"/>
                  </a:solidFill>
                  <a:uFill>
                    <a:noFill/>
                  </a:uFill>
                  <a:hlinkClick r:id="rId2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https://doi.org/10.1093/bib/bbaf722</a:t>
              </a:r>
              <a:r>
                <a:rPr lang="en" sz="600">
                  <a:solidFill>
                    <a:srgbClr val="0000FF"/>
                  </a:solidFill>
                </a:rPr>
                <a:t> </a:t>
              </a:r>
              <a:endParaRPr sz="600">
                <a:solidFill>
                  <a:srgbClr val="0000FF"/>
                </a:solidFill>
              </a:endParaRPr>
            </a:p>
          </p:txBody>
        </p:sp>
        <p:pic>
          <p:nvPicPr>
            <p:cNvPr id="501" name="Google Shape;501;p71"/>
            <p:cNvPicPr preferRelativeResize="0"/>
            <p:nvPr/>
          </p:nvPicPr>
          <p:blipFill>
            <a:blip r:embed="rId23">
              <a:alphaModFix/>
            </a:blip>
            <a:stretch>
              <a:fillRect/>
            </a:stretch>
          </p:blipFill>
          <p:spPr>
            <a:xfrm>
              <a:off x="5355075" y="4500175"/>
              <a:ext cx="1919450" cy="148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71"/>
            <p:cNvSpPr txBox="1"/>
            <p:nvPr/>
          </p:nvSpPr>
          <p:spPr>
            <a:xfrm>
              <a:off x="5321489" y="4425393"/>
              <a:ext cx="1735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600">
                  <a:solidFill>
                    <a:srgbClr val="0000FF"/>
                  </a:solidFill>
                  <a:uFill>
                    <a:noFill/>
                  </a:uFill>
                  <a:hlinkClick r:id="rId2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https://link.aps.org/doi/10.1103/d4tm-92vb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pic>
        <p:nvPicPr>
          <p:cNvPr id="503" name="Google Shape;503;p71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61175" y="339500"/>
            <a:ext cx="6394524" cy="167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71"/>
          <p:cNvSpPr txBox="1"/>
          <p:nvPr/>
        </p:nvSpPr>
        <p:spPr>
          <a:xfrm>
            <a:off x="5351400" y="90879"/>
            <a:ext cx="110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[ on </a:t>
            </a:r>
            <a:r>
              <a:rPr b="1" lang="en" sz="1000">
                <a:solidFill>
                  <a:srgbClr val="0000FF"/>
                </a:solidFill>
                <a:uFill>
                  <a:noFill/>
                </a:uFill>
                <a:hlinkClick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r>
              <a:rPr lang="en" sz="1000">
                <a:solidFill>
                  <a:schemeClr val="dk2"/>
                </a:solidFill>
              </a:rPr>
              <a:t> ]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2"/>
          <p:cNvSpPr/>
          <p:nvPr/>
        </p:nvSpPr>
        <p:spPr>
          <a:xfrm>
            <a:off x="3047538" y="2217608"/>
            <a:ext cx="3046800" cy="7083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KI-akselerert forskning</a:t>
            </a:r>
            <a:endParaRPr sz="1100"/>
          </a:p>
        </p:txBody>
      </p:sp>
      <p:sp>
        <p:nvSpPr>
          <p:cNvPr id="510" name="Google Shape;510;p72"/>
          <p:cNvSpPr/>
          <p:nvPr/>
        </p:nvSpPr>
        <p:spPr>
          <a:xfrm>
            <a:off x="718656" y="316525"/>
            <a:ext cx="7638000" cy="371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AC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1" name="Google Shape;511;p72"/>
          <p:cNvGrpSpPr/>
          <p:nvPr/>
        </p:nvGrpSpPr>
        <p:grpSpPr>
          <a:xfrm>
            <a:off x="49100" y="1430426"/>
            <a:ext cx="868800" cy="1485300"/>
            <a:chOff x="49100" y="1430426"/>
            <a:chExt cx="868800" cy="1485300"/>
          </a:xfrm>
        </p:grpSpPr>
        <p:sp>
          <p:nvSpPr>
            <p:cNvPr id="512" name="Google Shape;512;p72"/>
            <p:cNvSpPr/>
            <p:nvPr/>
          </p:nvSpPr>
          <p:spPr>
            <a:xfrm>
              <a:off x="49100" y="1430426"/>
              <a:ext cx="868800" cy="1485300"/>
            </a:xfrm>
            <a:prstGeom prst="roundRect">
              <a:avLst>
                <a:gd fmla="val 16667" name="adj"/>
              </a:avLst>
            </a:prstGeom>
            <a:solidFill>
              <a:srgbClr val="548B2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72"/>
            <p:cNvSpPr txBox="1"/>
            <p:nvPr/>
          </p:nvSpPr>
          <p:spPr>
            <a:xfrm>
              <a:off x="91509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Id</a:t>
              </a:r>
              <a:r>
                <a:rPr b="1" lang="en" sz="900">
                  <a:solidFill>
                    <a:srgbClr val="FFFFFF"/>
                  </a:solidFill>
                </a:rPr>
                <a:t>ea</a:t>
              </a:r>
              <a:br>
                <a:rPr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0800" lvl="1" marL="381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FFFFFF"/>
                  </a:solidFill>
                </a:rPr>
                <a:t> </a:t>
              </a:r>
              <a:r>
                <a:rPr lang="en" sz="800">
                  <a:solidFill>
                    <a:srgbClr val="FFFFFF"/>
                  </a:solidFill>
                </a:rPr>
                <a:t>Initial concept       or question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4" name="Google Shape;514;p72"/>
          <p:cNvGrpSpPr/>
          <p:nvPr/>
        </p:nvGrpSpPr>
        <p:grpSpPr>
          <a:xfrm>
            <a:off x="1062647" y="1430426"/>
            <a:ext cx="868800" cy="1485300"/>
            <a:chOff x="1062647" y="1430426"/>
            <a:chExt cx="868800" cy="1485300"/>
          </a:xfrm>
        </p:grpSpPr>
        <p:sp>
          <p:nvSpPr>
            <p:cNvPr id="515" name="Google Shape;515;p72"/>
            <p:cNvSpPr/>
            <p:nvPr/>
          </p:nvSpPr>
          <p:spPr>
            <a:xfrm>
              <a:off x="1062647" y="1430426"/>
              <a:ext cx="868800" cy="1485300"/>
            </a:xfrm>
            <a:prstGeom prst="roundRect">
              <a:avLst>
                <a:gd fmla="val 16667" name="adj"/>
              </a:avLst>
            </a:prstGeom>
            <a:solidFill>
              <a:srgbClr val="00968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72"/>
            <p:cNvSpPr txBox="1"/>
            <p:nvPr/>
          </p:nvSpPr>
          <p:spPr>
            <a:xfrm>
              <a:off x="1105057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lang="en" sz="900">
                  <a:solidFill>
                    <a:srgbClr val="FFFFFF"/>
                  </a:solidFill>
                </a:rPr>
                <a:t>Literature Review</a:t>
              </a:r>
              <a:br>
                <a:rPr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0800" lvl="1" marL="381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FFFFFF"/>
                  </a:solidFill>
                </a:rPr>
                <a:t> </a:t>
              </a:r>
              <a:r>
                <a:rPr b="0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lang="en" sz="800">
                  <a:solidFill>
                    <a:srgbClr val="FFFFFF"/>
                  </a:solidFill>
                </a:rPr>
                <a:t>xisting research, knowledge gaps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7" name="Google Shape;517;p72"/>
          <p:cNvGrpSpPr/>
          <p:nvPr/>
        </p:nvGrpSpPr>
        <p:grpSpPr>
          <a:xfrm>
            <a:off x="2076196" y="1430426"/>
            <a:ext cx="868800" cy="1485300"/>
            <a:chOff x="2076196" y="1430426"/>
            <a:chExt cx="868800" cy="1485300"/>
          </a:xfrm>
        </p:grpSpPr>
        <p:sp>
          <p:nvSpPr>
            <p:cNvPr id="518" name="Google Shape;518;p72"/>
            <p:cNvSpPr/>
            <p:nvPr/>
          </p:nvSpPr>
          <p:spPr>
            <a:xfrm>
              <a:off x="2076196" y="1430426"/>
              <a:ext cx="868800" cy="1485300"/>
            </a:xfrm>
            <a:prstGeom prst="roundRect">
              <a:avLst>
                <a:gd fmla="val 16667" name="adj"/>
              </a:avLst>
            </a:prstGeom>
            <a:solidFill>
              <a:srgbClr val="019B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72"/>
            <p:cNvSpPr txBox="1"/>
            <p:nvPr/>
          </p:nvSpPr>
          <p:spPr>
            <a:xfrm>
              <a:off x="2118605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lang="en" sz="900">
                  <a:solidFill>
                    <a:srgbClr val="FFFFFF"/>
                  </a:solidFill>
                </a:rPr>
                <a:t>Research Questions</a:t>
              </a:r>
              <a:br>
                <a:rPr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0800" lvl="1" marL="381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FFFFFF"/>
                  </a:solidFill>
                </a:rPr>
                <a:t> </a:t>
              </a:r>
              <a:r>
                <a:rPr b="0" i="0" lang="en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" sz="800">
                  <a:solidFill>
                    <a:srgbClr val="FFFFFF"/>
                  </a:solidFill>
                </a:rPr>
                <a:t>recisely testable hypothesis or question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" name="Google Shape;520;p72"/>
          <p:cNvGrpSpPr/>
          <p:nvPr/>
        </p:nvGrpSpPr>
        <p:grpSpPr>
          <a:xfrm>
            <a:off x="3089744" y="1430426"/>
            <a:ext cx="868800" cy="1485300"/>
            <a:chOff x="3089744" y="1430426"/>
            <a:chExt cx="868800" cy="1485300"/>
          </a:xfrm>
        </p:grpSpPr>
        <p:sp>
          <p:nvSpPr>
            <p:cNvPr id="521" name="Google Shape;521;p72"/>
            <p:cNvSpPr/>
            <p:nvPr/>
          </p:nvSpPr>
          <p:spPr>
            <a:xfrm>
              <a:off x="3089744" y="1430426"/>
              <a:ext cx="868800" cy="1485300"/>
            </a:xfrm>
            <a:prstGeom prst="roundRect">
              <a:avLst>
                <a:gd fmla="val 16667" name="adj"/>
              </a:avLst>
            </a:prstGeom>
            <a:solidFill>
              <a:srgbClr val="8BC24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72"/>
            <p:cNvSpPr txBox="1"/>
            <p:nvPr/>
          </p:nvSpPr>
          <p:spPr>
            <a:xfrm>
              <a:off x="3132153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065"/>
                </a:buClr>
                <a:buSzPts val="900"/>
                <a:buFont typeface="Arial"/>
                <a:buNone/>
              </a:pPr>
              <a:r>
                <a:rPr b="1" lang="en" sz="900">
                  <a:solidFill>
                    <a:srgbClr val="004065"/>
                  </a:solidFill>
                </a:rPr>
                <a:t>Study Design</a:t>
              </a:r>
              <a:endParaRPr b="1" sz="900">
                <a:solidFill>
                  <a:srgbClr val="00406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900"/>
                <a:buFont typeface="Calibri"/>
                <a:buNone/>
              </a:pPr>
              <a:r>
                <a:t/>
              </a:r>
              <a:endParaRPr sz="900">
                <a:solidFill>
                  <a:srgbClr val="00406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0800" lvl="1" marL="381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4065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004065"/>
                  </a:solidFill>
                </a:rPr>
                <a:t> Methodology, participants, variables</a:t>
              </a:r>
              <a:endParaRPr b="0" i="0" sz="800" u="none" cap="none" strike="noStrike">
                <a:solidFill>
                  <a:srgbClr val="00406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3" name="Google Shape;523;p72"/>
          <p:cNvGrpSpPr/>
          <p:nvPr/>
        </p:nvGrpSpPr>
        <p:grpSpPr>
          <a:xfrm>
            <a:off x="4103292" y="1430426"/>
            <a:ext cx="868800" cy="1485300"/>
            <a:chOff x="4103292" y="1430426"/>
            <a:chExt cx="868800" cy="1485300"/>
          </a:xfrm>
        </p:grpSpPr>
        <p:sp>
          <p:nvSpPr>
            <p:cNvPr id="524" name="Google Shape;524;p72"/>
            <p:cNvSpPr/>
            <p:nvPr/>
          </p:nvSpPr>
          <p:spPr>
            <a:xfrm>
              <a:off x="4103292" y="1430426"/>
              <a:ext cx="868800" cy="1485300"/>
            </a:xfrm>
            <a:prstGeom prst="roundRect">
              <a:avLst>
                <a:gd fmla="val 16667" name="adj"/>
              </a:avLst>
            </a:prstGeom>
            <a:solidFill>
              <a:srgbClr val="FFEB37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72"/>
            <p:cNvSpPr txBox="1"/>
            <p:nvPr/>
          </p:nvSpPr>
          <p:spPr>
            <a:xfrm>
              <a:off x="4145702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065"/>
                </a:buClr>
                <a:buSzPts val="900"/>
                <a:buFont typeface="Arial"/>
                <a:buNone/>
              </a:pPr>
              <a:r>
                <a:rPr b="1" lang="en" sz="900">
                  <a:solidFill>
                    <a:srgbClr val="004065"/>
                  </a:solidFill>
                </a:rPr>
                <a:t>Applications</a:t>
              </a:r>
              <a:br>
                <a:rPr lang="en" sz="900">
                  <a:solidFill>
                    <a:srgbClr val="004065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00406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0800" lvl="1" marL="381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4065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004065"/>
                  </a:solidFill>
                </a:rPr>
                <a:t> </a:t>
              </a:r>
              <a:r>
                <a:rPr b="0" i="0" lang="en" sz="800" u="none" cap="none" strike="noStrike">
                  <a:solidFill>
                    <a:srgbClr val="004065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lang="en" sz="800">
                  <a:solidFill>
                    <a:srgbClr val="004065"/>
                  </a:solidFill>
                </a:rPr>
                <a:t>thics approval</a:t>
              </a:r>
              <a:endParaRPr sz="800">
                <a:solidFill>
                  <a:srgbClr val="004065"/>
                </a:solidFill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004065"/>
                </a:solidFill>
              </a:endParaRPr>
            </a:p>
            <a:p>
              <a:pPr indent="-5080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4065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004065"/>
                  </a:solidFill>
                </a:rPr>
                <a:t> </a:t>
              </a:r>
              <a:r>
                <a:rPr b="0" i="0" lang="en" sz="800" u="none" cap="none" strike="noStrike">
                  <a:solidFill>
                    <a:srgbClr val="004065"/>
                  </a:solidFill>
                  <a:latin typeface="Arial"/>
                  <a:ea typeface="Arial"/>
                  <a:cs typeface="Arial"/>
                  <a:sym typeface="Arial"/>
                </a:rPr>
                <a:t>Finan</a:t>
              </a:r>
              <a:r>
                <a:rPr lang="en" sz="800">
                  <a:solidFill>
                    <a:srgbClr val="004065"/>
                  </a:solidFill>
                </a:rPr>
                <a:t>cing</a:t>
              </a:r>
              <a:endParaRPr b="0" i="0" sz="800" u="none" cap="none" strike="noStrike">
                <a:solidFill>
                  <a:srgbClr val="00406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6" name="Google Shape;526;p72"/>
          <p:cNvGrpSpPr/>
          <p:nvPr/>
        </p:nvGrpSpPr>
        <p:grpSpPr>
          <a:xfrm>
            <a:off x="5116840" y="1430426"/>
            <a:ext cx="868800" cy="1485300"/>
            <a:chOff x="5116840" y="1430426"/>
            <a:chExt cx="868800" cy="1485300"/>
          </a:xfrm>
        </p:grpSpPr>
        <p:sp>
          <p:nvSpPr>
            <p:cNvPr id="527" name="Google Shape;527;p72"/>
            <p:cNvSpPr/>
            <p:nvPr/>
          </p:nvSpPr>
          <p:spPr>
            <a:xfrm>
              <a:off x="5116840" y="1430426"/>
              <a:ext cx="868800" cy="1485300"/>
            </a:xfrm>
            <a:prstGeom prst="roundRect">
              <a:avLst>
                <a:gd fmla="val 16667" name="adj"/>
              </a:avLst>
            </a:prstGeom>
            <a:solidFill>
              <a:srgbClr val="548B2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72"/>
            <p:cNvSpPr txBox="1"/>
            <p:nvPr/>
          </p:nvSpPr>
          <p:spPr>
            <a:xfrm>
              <a:off x="5159250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lang="en" sz="900">
                  <a:solidFill>
                    <a:srgbClr val="FFFFFF"/>
                  </a:solidFill>
                </a:rPr>
                <a:t>Implementa-</a:t>
              </a:r>
              <a:endParaRPr b="1" sz="900">
                <a:solidFill>
                  <a:srgbClr val="FFFFFF"/>
                </a:solidFill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lang="en" sz="900">
                  <a:solidFill>
                    <a:srgbClr val="FFFFFF"/>
                  </a:solidFill>
                </a:rPr>
                <a:t>tion</a:t>
              </a:r>
              <a:br>
                <a:rPr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0800" lvl="1" marL="381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FFFFFF"/>
                  </a:solidFill>
                </a:rPr>
                <a:t> Execution, collection of data</a:t>
              </a:r>
              <a:endParaRPr sz="1100"/>
            </a:p>
          </p:txBody>
        </p:sp>
      </p:grpSp>
      <p:grpSp>
        <p:nvGrpSpPr>
          <p:cNvPr id="529" name="Google Shape;529;p72"/>
          <p:cNvGrpSpPr/>
          <p:nvPr/>
        </p:nvGrpSpPr>
        <p:grpSpPr>
          <a:xfrm>
            <a:off x="6130389" y="1430426"/>
            <a:ext cx="868800" cy="1485300"/>
            <a:chOff x="6130389" y="1430426"/>
            <a:chExt cx="868800" cy="1485300"/>
          </a:xfrm>
        </p:grpSpPr>
        <p:sp>
          <p:nvSpPr>
            <p:cNvPr id="530" name="Google Shape;530;p72"/>
            <p:cNvSpPr/>
            <p:nvPr/>
          </p:nvSpPr>
          <p:spPr>
            <a:xfrm>
              <a:off x="6130389" y="1430426"/>
              <a:ext cx="868800" cy="1485300"/>
            </a:xfrm>
            <a:prstGeom prst="roundRect">
              <a:avLst>
                <a:gd fmla="val 16667" name="adj"/>
              </a:avLst>
            </a:prstGeom>
            <a:solidFill>
              <a:srgbClr val="00968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2"/>
            <p:cNvSpPr txBox="1"/>
            <p:nvPr/>
          </p:nvSpPr>
          <p:spPr>
            <a:xfrm>
              <a:off x="6172798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lang="en" sz="900">
                  <a:solidFill>
                    <a:srgbClr val="FFFFFF"/>
                  </a:solidFill>
                </a:rPr>
                <a:t>Data Analysis</a:t>
              </a:r>
              <a:br>
                <a:rPr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0800" lvl="1" marL="381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FFFFFF"/>
                  </a:solidFill>
                </a:rPr>
                <a:t> Processing, analysis, statistics, interpretation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" name="Google Shape;532;p72"/>
          <p:cNvGrpSpPr/>
          <p:nvPr/>
        </p:nvGrpSpPr>
        <p:grpSpPr>
          <a:xfrm>
            <a:off x="7143937" y="1430426"/>
            <a:ext cx="868800" cy="1485300"/>
            <a:chOff x="7143937" y="1430426"/>
            <a:chExt cx="868800" cy="1485300"/>
          </a:xfrm>
        </p:grpSpPr>
        <p:sp>
          <p:nvSpPr>
            <p:cNvPr id="533" name="Google Shape;533;p72"/>
            <p:cNvSpPr/>
            <p:nvPr/>
          </p:nvSpPr>
          <p:spPr>
            <a:xfrm>
              <a:off x="7143937" y="1430426"/>
              <a:ext cx="868800" cy="1485300"/>
            </a:xfrm>
            <a:prstGeom prst="roundRect">
              <a:avLst>
                <a:gd fmla="val 16667" name="adj"/>
              </a:avLst>
            </a:prstGeom>
            <a:solidFill>
              <a:srgbClr val="019B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72"/>
            <p:cNvSpPr txBox="1"/>
            <p:nvPr/>
          </p:nvSpPr>
          <p:spPr>
            <a:xfrm>
              <a:off x="7186350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lang="en" sz="900">
                  <a:solidFill>
                    <a:srgbClr val="FFFFFF"/>
                  </a:solidFill>
                </a:rPr>
                <a:t>Reporting</a:t>
              </a:r>
              <a:br>
                <a:rPr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0800" lvl="1" marL="381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FFFFFF"/>
                  </a:solidFill>
                </a:rPr>
                <a:t> Publishing, peer reviews</a:t>
              </a:r>
              <a:endParaRPr sz="800">
                <a:solidFill>
                  <a:srgbClr val="FFFFFF"/>
                </a:solidFill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</a:endParaRPr>
            </a:p>
            <a:p>
              <a:pPr indent="-5080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FFFFFF"/>
                  </a:solidFill>
                </a:rPr>
                <a:t> Dissemination</a:t>
              </a:r>
              <a:endPara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5" name="Google Shape;535;p72"/>
          <p:cNvGrpSpPr/>
          <p:nvPr/>
        </p:nvGrpSpPr>
        <p:grpSpPr>
          <a:xfrm>
            <a:off x="8157485" y="1430426"/>
            <a:ext cx="868800" cy="1485300"/>
            <a:chOff x="8157485" y="1430426"/>
            <a:chExt cx="868800" cy="1485300"/>
          </a:xfrm>
        </p:grpSpPr>
        <p:sp>
          <p:nvSpPr>
            <p:cNvPr id="536" name="Google Shape;536;p72"/>
            <p:cNvSpPr/>
            <p:nvPr/>
          </p:nvSpPr>
          <p:spPr>
            <a:xfrm>
              <a:off x="8157485" y="1430426"/>
              <a:ext cx="868800" cy="1485300"/>
            </a:xfrm>
            <a:prstGeom prst="roundRect">
              <a:avLst>
                <a:gd fmla="val 16667" name="adj"/>
              </a:avLst>
            </a:prstGeom>
            <a:solidFill>
              <a:srgbClr val="8BC24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72"/>
            <p:cNvSpPr txBox="1"/>
            <p:nvPr/>
          </p:nvSpPr>
          <p:spPr>
            <a:xfrm>
              <a:off x="8199894" y="1470475"/>
              <a:ext cx="783900" cy="14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065"/>
                </a:buClr>
                <a:buSzPts val="900"/>
                <a:buFont typeface="Arial"/>
                <a:buNone/>
              </a:pPr>
              <a:r>
                <a:rPr b="1" lang="en" sz="900">
                  <a:solidFill>
                    <a:srgbClr val="004065"/>
                  </a:solidFill>
                </a:rPr>
                <a:t>Further Studies</a:t>
              </a:r>
              <a:br>
                <a:rPr lang="en" sz="900">
                  <a:solidFill>
                    <a:srgbClr val="004065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900">
                <a:solidFill>
                  <a:srgbClr val="00406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0800" lvl="1" marL="381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4065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004065"/>
                  </a:solidFill>
                </a:rPr>
                <a:t> </a:t>
              </a:r>
              <a:r>
                <a:rPr b="0" i="0" lang="en" sz="800" u="none" cap="none" strike="noStrike">
                  <a:solidFill>
                    <a:srgbClr val="004065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lang="en" sz="800">
                  <a:solidFill>
                    <a:srgbClr val="004065"/>
                  </a:solidFill>
                </a:rPr>
                <a:t>ew studies and collaboration</a:t>
              </a:r>
              <a:endParaRPr sz="800">
                <a:solidFill>
                  <a:srgbClr val="004065"/>
                </a:solidFill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004065"/>
                </a:solidFill>
              </a:endParaRPr>
            </a:p>
            <a:p>
              <a:pPr indent="-50800" lvl="1" marL="3810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rgbClr val="004065"/>
                </a:buClr>
                <a:buSzPts val="800"/>
                <a:buFont typeface="Arial"/>
                <a:buChar char="•"/>
              </a:pPr>
              <a:r>
                <a:rPr lang="en" sz="800">
                  <a:solidFill>
                    <a:srgbClr val="004065"/>
                  </a:solidFill>
                </a:rPr>
                <a:t> Research-</a:t>
              </a:r>
              <a:endParaRPr sz="800">
                <a:solidFill>
                  <a:srgbClr val="004065"/>
                </a:solidFill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004065"/>
                  </a:solidFill>
                </a:rPr>
                <a:t>based teaching</a:t>
              </a:r>
              <a:endParaRPr b="0" i="0" sz="800" u="none" cap="none" strike="noStrike">
                <a:solidFill>
                  <a:srgbClr val="00406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" name="Google Shape;538;p72"/>
          <p:cNvSpPr txBox="1"/>
          <p:nvPr/>
        </p:nvSpPr>
        <p:spPr>
          <a:xfrm>
            <a:off x="2081917" y="173825"/>
            <a:ext cx="32187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The</a:t>
            </a:r>
            <a:r>
              <a:rPr lang="en" sz="2100">
                <a:solidFill>
                  <a:schemeClr val="dk1"/>
                </a:solidFill>
              </a:rPr>
              <a:t> Research Workflow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(from idea to reporting)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539" name="Google Shape;539;p72"/>
          <p:cNvGrpSpPr/>
          <p:nvPr/>
        </p:nvGrpSpPr>
        <p:grpSpPr>
          <a:xfrm>
            <a:off x="483350" y="2875750"/>
            <a:ext cx="8108400" cy="2055600"/>
            <a:chOff x="483350" y="2875750"/>
            <a:chExt cx="8108400" cy="2055600"/>
          </a:xfrm>
        </p:grpSpPr>
        <p:sp>
          <p:nvSpPr>
            <p:cNvPr id="540" name="Google Shape;540;p72"/>
            <p:cNvSpPr txBox="1"/>
            <p:nvPr/>
          </p:nvSpPr>
          <p:spPr>
            <a:xfrm>
              <a:off x="1702550" y="4423450"/>
              <a:ext cx="48174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AI support / AI collaborator / AI agents</a:t>
              </a:r>
              <a:endParaRPr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1" name="Google Shape;541;p72"/>
            <p:cNvCxnSpPr>
              <a:stCxn id="540" idx="0"/>
              <a:endCxn id="513" idx="2"/>
            </p:cNvCxnSpPr>
            <p:nvPr/>
          </p:nvCxnSpPr>
          <p:spPr>
            <a:xfrm rot="10800000">
              <a:off x="483350" y="2875750"/>
              <a:ext cx="3627900" cy="154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2" name="Google Shape;542;p72"/>
            <p:cNvCxnSpPr>
              <a:stCxn id="540" idx="0"/>
              <a:endCxn id="516" idx="2"/>
            </p:cNvCxnSpPr>
            <p:nvPr/>
          </p:nvCxnSpPr>
          <p:spPr>
            <a:xfrm rot="10800000">
              <a:off x="1497050" y="2875750"/>
              <a:ext cx="2614200" cy="154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3" name="Google Shape;543;p72"/>
            <p:cNvCxnSpPr>
              <a:stCxn id="540" idx="0"/>
              <a:endCxn id="519" idx="2"/>
            </p:cNvCxnSpPr>
            <p:nvPr/>
          </p:nvCxnSpPr>
          <p:spPr>
            <a:xfrm rot="10800000">
              <a:off x="2510450" y="2875750"/>
              <a:ext cx="1600800" cy="154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4" name="Google Shape;544;p72"/>
            <p:cNvCxnSpPr>
              <a:stCxn id="540" idx="0"/>
              <a:endCxn id="522" idx="2"/>
            </p:cNvCxnSpPr>
            <p:nvPr/>
          </p:nvCxnSpPr>
          <p:spPr>
            <a:xfrm rot="10800000">
              <a:off x="3524150" y="2875750"/>
              <a:ext cx="587100" cy="154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5" name="Google Shape;545;p72"/>
            <p:cNvCxnSpPr>
              <a:stCxn id="540" idx="0"/>
              <a:endCxn id="525" idx="2"/>
            </p:cNvCxnSpPr>
            <p:nvPr/>
          </p:nvCxnSpPr>
          <p:spPr>
            <a:xfrm flipH="1" rot="10800000">
              <a:off x="4111250" y="2875750"/>
              <a:ext cx="426300" cy="154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6" name="Google Shape;546;p72"/>
            <p:cNvCxnSpPr>
              <a:stCxn id="540" idx="0"/>
              <a:endCxn id="528" idx="2"/>
            </p:cNvCxnSpPr>
            <p:nvPr/>
          </p:nvCxnSpPr>
          <p:spPr>
            <a:xfrm flipH="1" rot="10800000">
              <a:off x="4111250" y="2875750"/>
              <a:ext cx="1440000" cy="154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7" name="Google Shape;547;p72"/>
            <p:cNvCxnSpPr>
              <a:stCxn id="540" idx="0"/>
              <a:endCxn id="531" idx="2"/>
            </p:cNvCxnSpPr>
            <p:nvPr/>
          </p:nvCxnSpPr>
          <p:spPr>
            <a:xfrm flipH="1" rot="10800000">
              <a:off x="4111250" y="2875750"/>
              <a:ext cx="2453400" cy="154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8" name="Google Shape;548;p72"/>
            <p:cNvCxnSpPr>
              <a:stCxn id="540" idx="0"/>
              <a:endCxn id="534" idx="2"/>
            </p:cNvCxnSpPr>
            <p:nvPr/>
          </p:nvCxnSpPr>
          <p:spPr>
            <a:xfrm flipH="1" rot="10800000">
              <a:off x="4111250" y="2875750"/>
              <a:ext cx="3467100" cy="154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9" name="Google Shape;549;p72"/>
            <p:cNvCxnSpPr>
              <a:stCxn id="540" idx="0"/>
              <a:endCxn id="537" idx="2"/>
            </p:cNvCxnSpPr>
            <p:nvPr/>
          </p:nvCxnSpPr>
          <p:spPr>
            <a:xfrm flipH="1" rot="10800000">
              <a:off x="4111250" y="2875750"/>
              <a:ext cx="4480500" cy="154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50" name="Google Shape;550;p72"/>
          <p:cNvSpPr txBox="1"/>
          <p:nvPr/>
        </p:nvSpPr>
        <p:spPr>
          <a:xfrm>
            <a:off x="2749346" y="4854111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https://github.com/arvidl/AI-assisted-glioma-research</a:t>
            </a:r>
            <a:endParaRPr sz="800"/>
          </a:p>
        </p:txBody>
      </p:sp>
      <p:pic>
        <p:nvPicPr>
          <p:cNvPr id="551" name="Google Shape;551;p72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58762" y="4931347"/>
            <a:ext cx="694387" cy="13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24216">
            <a:off x="7857475" y="2970100"/>
            <a:ext cx="360050" cy="1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73"/>
          <p:cNvSpPr txBox="1"/>
          <p:nvPr/>
        </p:nvSpPr>
        <p:spPr>
          <a:xfrm rot="-134784">
            <a:off x="7781071" y="2880557"/>
            <a:ext cx="512794" cy="3386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CODE</a:t>
            </a:r>
            <a:endParaRPr b="0" i="0" sz="10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58" name="Google Shape;558;p73"/>
          <p:cNvSpPr txBox="1"/>
          <p:nvPr/>
        </p:nvSpPr>
        <p:spPr>
          <a:xfrm>
            <a:off x="4495325" y="1235350"/>
            <a:ext cx="2113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" sz="2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Thank you !</a:t>
            </a:r>
            <a:endParaRPr b="0" i="0" sz="26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9" name="Google Shape;559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64" y="4337785"/>
            <a:ext cx="768125" cy="7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